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slide+xml" PartName="/ppt/slides/slide57.xml"/>
  <Override ContentType="application/vnd.openxmlformats-officedocument.presentationml.slide+xml" PartName="/ppt/slides/slide58.xml"/>
  <Override ContentType="application/vnd.openxmlformats-officedocument.presentationml.slide+xml" PartName="/ppt/slides/slide59.xml"/>
  <Override ContentType="application/vnd.openxmlformats-officedocument.presentationml.slide+xml" PartName="/ppt/slides/slide60.xml"/>
  <Override ContentType="application/vnd.openxmlformats-officedocument.presentationml.slide+xml" PartName="/ppt/slides/slide61.xml"/>
  <Override ContentType="application/vnd.openxmlformats-officedocument.presentationml.slide+xml" PartName="/ppt/slides/slide62.xml"/>
  <Override ContentType="application/vnd.openxmlformats-officedocument.presentationml.slide+xml" PartName="/ppt/slides/slide63.xml"/>
  <Override ContentType="application/vnd.openxmlformats-officedocument.presentationml.slide+xml" PartName="/ppt/slides/slide64.xml"/>
  <Override ContentType="application/vnd.openxmlformats-officedocument.presentationml.slide+xml" PartName="/ppt/slides/slide65.xml"/>
  <Override ContentType="application/vnd.openxmlformats-officedocument.presentationml.slide+xml" PartName="/ppt/slides/slide66.xml"/>
  <Override ContentType="application/vnd.openxmlformats-officedocument.presentationml.slide+xml" PartName="/ppt/slides/slide67.xml"/>
  <Override ContentType="application/vnd.openxmlformats-officedocument.presentationml.slide+xml" PartName="/ppt/slides/slide68.xml"/>
  <Override ContentType="application/vnd.openxmlformats-officedocument.presentationml.slide+xml" PartName="/ppt/slides/slide69.xml"/>
  <Override ContentType="application/vnd.openxmlformats-officedocument.presentationml.slide+xml" PartName="/ppt/slides/slide70.xml"/>
  <Override ContentType="application/vnd.openxmlformats-officedocument.presentationml.slide+xml" PartName="/ppt/slides/slide71.xml"/>
  <Override ContentType="application/vnd.openxmlformats-officedocument.presentationml.slide+xml" PartName="/ppt/slides/slide72.xml"/>
  <Override ContentType="application/vnd.openxmlformats-officedocument.presentationml.slide+xml" PartName="/ppt/slides/slide7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Lst>
  <p:sldSz cx="18288000" cy="10287000"/>
  <p:notesSz cx="6858000" cy="9144000"/>
  <p:embeddedFontLst>
    <p:embeddedFont>
      <p:font typeface="Canva Sans Bold" charset="1" panose="020B0803030501040103"/>
      <p:regular r:id="rId79"/>
    </p:embeddedFont>
    <p:embeddedFont>
      <p:font typeface="Canva Sans" charset="1" panose="020B0503030501040103"/>
      <p:regular r:id="rId8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slides/slide52.xml" Type="http://schemas.openxmlformats.org/officeDocument/2006/relationships/slide"/><Relationship Id="rId58" Target="slides/slide53.xml" Type="http://schemas.openxmlformats.org/officeDocument/2006/relationships/slide"/><Relationship Id="rId59" Target="slides/slide54.xml" Type="http://schemas.openxmlformats.org/officeDocument/2006/relationships/slide"/><Relationship Id="rId6" Target="slides/slide1.xml" Type="http://schemas.openxmlformats.org/officeDocument/2006/relationships/slide"/><Relationship Id="rId60" Target="slides/slide55.xml" Type="http://schemas.openxmlformats.org/officeDocument/2006/relationships/slide"/><Relationship Id="rId61" Target="slides/slide56.xml" Type="http://schemas.openxmlformats.org/officeDocument/2006/relationships/slide"/><Relationship Id="rId62" Target="slides/slide57.xml" Type="http://schemas.openxmlformats.org/officeDocument/2006/relationships/slide"/><Relationship Id="rId63" Target="slides/slide58.xml" Type="http://schemas.openxmlformats.org/officeDocument/2006/relationships/slide"/><Relationship Id="rId64" Target="slides/slide59.xml" Type="http://schemas.openxmlformats.org/officeDocument/2006/relationships/slide"/><Relationship Id="rId65" Target="slides/slide60.xml" Type="http://schemas.openxmlformats.org/officeDocument/2006/relationships/slide"/><Relationship Id="rId66" Target="slides/slide61.xml" Type="http://schemas.openxmlformats.org/officeDocument/2006/relationships/slide"/><Relationship Id="rId67" Target="slides/slide62.xml" Type="http://schemas.openxmlformats.org/officeDocument/2006/relationships/slide"/><Relationship Id="rId68" Target="slides/slide63.xml" Type="http://schemas.openxmlformats.org/officeDocument/2006/relationships/slide"/><Relationship Id="rId69" Target="slides/slide64.xml" Type="http://schemas.openxmlformats.org/officeDocument/2006/relationships/slide"/><Relationship Id="rId7" Target="slides/slide2.xml" Type="http://schemas.openxmlformats.org/officeDocument/2006/relationships/slide"/><Relationship Id="rId70" Target="slides/slide65.xml" Type="http://schemas.openxmlformats.org/officeDocument/2006/relationships/slide"/><Relationship Id="rId71" Target="slides/slide66.xml" Type="http://schemas.openxmlformats.org/officeDocument/2006/relationships/slide"/><Relationship Id="rId72" Target="slides/slide67.xml" Type="http://schemas.openxmlformats.org/officeDocument/2006/relationships/slide"/><Relationship Id="rId73" Target="slides/slide68.xml" Type="http://schemas.openxmlformats.org/officeDocument/2006/relationships/slide"/><Relationship Id="rId74" Target="slides/slide69.xml" Type="http://schemas.openxmlformats.org/officeDocument/2006/relationships/slide"/><Relationship Id="rId75" Target="slides/slide70.xml" Type="http://schemas.openxmlformats.org/officeDocument/2006/relationships/slide"/><Relationship Id="rId76" Target="slides/slide71.xml" Type="http://schemas.openxmlformats.org/officeDocument/2006/relationships/slide"/><Relationship Id="rId77" Target="slides/slide72.xml" Type="http://schemas.openxmlformats.org/officeDocument/2006/relationships/slide"/><Relationship Id="rId78" Target="slides/slide73.xml" Type="http://schemas.openxmlformats.org/officeDocument/2006/relationships/slide"/><Relationship Id="rId79" Target="fonts/font79.fntdata" Type="http://schemas.openxmlformats.org/officeDocument/2006/relationships/font"/><Relationship Id="rId8" Target="slides/slide3.xml" Type="http://schemas.openxmlformats.org/officeDocument/2006/relationships/slide"/><Relationship Id="rId80" Target="fonts/font80.fntdata" Type="http://schemas.openxmlformats.org/officeDocument/2006/relationships/font"/><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s>
</file>

<file path=ppt/slides/_rels/slide5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s>
</file>

<file path=ppt/slides/_rels/slide5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s>
</file>

<file path=ppt/slides/_rels/slide5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s>
</file>

<file path=ppt/slides/_rels/slide5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s>
</file>

<file path=ppt/slides/_rels/slide6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s>
</file>

<file path=ppt/slides/_rels/slide6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s>
</file>

<file path=ppt/slides/_rels/slide6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s>
</file>

<file path=ppt/slides/_rels/slide6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s>
</file>

<file path=ppt/slides/_rels/slide6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s>
</file>

<file path=ppt/slides/_rels/slide7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s>
</file>

<file path=ppt/slides/_rels/slide73.xml.rels><?xml version="1.0" encoding="UTF-8" standalone="yes"?><Relationships xmlns="http://schemas.openxmlformats.org/package/2006/relationships"><Relationship Id="rId1" Target="../slideLayouts/slideLayout7.xml" Type="http://schemas.openxmlformats.org/officeDocument/2006/relationships/slideLayout"/><Relationship Id="rId2" Target="https://github.com/marzi-dezfoulianrad/data_analysis_tennis.git" TargetMode="External" Type="http://schemas.openxmlformats.org/officeDocument/2006/relationships/hyperlink"/></Relationships>
</file>

<file path=ppt/slides/slide1.xml><?xml version="1.0" encoding="utf-8"?>
<p:sld xmlns:p="http://schemas.openxmlformats.org/presentationml/2006/main" xmlns:a="http://schemas.openxmlformats.org/drawingml/2006/main">
  <p:cSld>
    <p:bg>
      <p:bgPr>
        <a:solidFill>
          <a:srgbClr val="D4EDF4"/>
        </a:solidFill>
      </p:bgPr>
    </p:bg>
    <p:spTree>
      <p:nvGrpSpPr>
        <p:cNvPr id="1" name=""/>
        <p:cNvGrpSpPr/>
        <p:nvPr/>
      </p:nvGrpSpPr>
      <p:grpSpPr>
        <a:xfrm>
          <a:off x="0" y="0"/>
          <a:ext cx="0" cy="0"/>
          <a:chOff x="0" y="0"/>
          <a:chExt cx="0" cy="0"/>
        </a:xfrm>
      </p:grpSpPr>
      <p:sp>
        <p:nvSpPr>
          <p:cNvPr name="TextBox 2" id="2"/>
          <p:cNvSpPr txBox="true"/>
          <p:nvPr/>
        </p:nvSpPr>
        <p:spPr>
          <a:xfrm rot="0">
            <a:off x="4766432" y="2766619"/>
            <a:ext cx="8755137" cy="2980690"/>
          </a:xfrm>
          <a:prstGeom prst="rect">
            <a:avLst/>
          </a:prstGeom>
        </p:spPr>
        <p:txBody>
          <a:bodyPr anchor="t" rtlCol="false" tIns="0" lIns="0" bIns="0" rIns="0">
            <a:spAutoFit/>
          </a:bodyPr>
          <a:lstStyle/>
          <a:p>
            <a:pPr algn="ctr" marL="0" indent="0" lvl="0">
              <a:lnSpc>
                <a:spcPts val="4759"/>
              </a:lnSpc>
            </a:pPr>
            <a:r>
              <a:rPr lang="en-US" b="true" sz="3399">
                <a:solidFill>
                  <a:srgbClr val="000000"/>
                </a:solidFill>
                <a:latin typeface="Canva Sans Bold"/>
                <a:ea typeface="Canva Sans Bold"/>
                <a:cs typeface="Canva Sans Bold"/>
                <a:sym typeface="Canva Sans Bold"/>
              </a:rPr>
              <a:t>Daneshkar Presentation</a:t>
            </a:r>
          </a:p>
          <a:p>
            <a:pPr algn="ctr" marL="0" indent="0" lvl="0">
              <a:lnSpc>
                <a:spcPts val="4759"/>
              </a:lnSpc>
            </a:pPr>
            <a:r>
              <a:rPr lang="en-US" sz="3399">
                <a:solidFill>
                  <a:srgbClr val="000000"/>
                </a:solidFill>
                <a:latin typeface="Canva Sans"/>
                <a:ea typeface="Canva Sans"/>
                <a:cs typeface="Canva Sans"/>
                <a:sym typeface="Canva Sans"/>
              </a:rPr>
              <a:t> for</a:t>
            </a:r>
          </a:p>
          <a:p>
            <a:pPr algn="ctr" marL="0" indent="0" lvl="0">
              <a:lnSpc>
                <a:spcPts val="4759"/>
              </a:lnSpc>
            </a:pPr>
            <a:r>
              <a:rPr lang="en-US" b="true" sz="3399">
                <a:solidFill>
                  <a:srgbClr val="000000"/>
                </a:solidFill>
                <a:latin typeface="Canva Sans Bold"/>
                <a:ea typeface="Canva Sans Bold"/>
                <a:cs typeface="Canva Sans Bold"/>
                <a:sym typeface="Canva Sans Bold"/>
              </a:rPr>
              <a:t>Data Analysis</a:t>
            </a:r>
          </a:p>
          <a:p>
            <a:pPr algn="ctr" marL="0" indent="0" lvl="0">
              <a:lnSpc>
                <a:spcPts val="4759"/>
              </a:lnSpc>
            </a:pPr>
            <a:r>
              <a:rPr lang="en-US" sz="3399">
                <a:solidFill>
                  <a:srgbClr val="000000"/>
                </a:solidFill>
                <a:latin typeface="Canva Sans"/>
                <a:ea typeface="Canva Sans"/>
                <a:cs typeface="Canva Sans"/>
                <a:sym typeface="Canva Sans"/>
              </a:rPr>
              <a:t> of</a:t>
            </a:r>
          </a:p>
          <a:p>
            <a:pPr algn="ctr">
              <a:lnSpc>
                <a:spcPts val="4759"/>
              </a:lnSpc>
              <a:spcBef>
                <a:spcPct val="0"/>
              </a:spcBef>
            </a:pPr>
            <a:r>
              <a:rPr lang="en-US" b="true" sz="3399">
                <a:solidFill>
                  <a:srgbClr val="000000"/>
                </a:solidFill>
                <a:latin typeface="Canva Sans Bold"/>
                <a:ea typeface="Canva Sans Bold"/>
                <a:cs typeface="Canva Sans Bold"/>
                <a:sym typeface="Canva Sans Bold"/>
              </a:rPr>
              <a:t>Tennis Games</a:t>
            </a:r>
          </a:p>
        </p:txBody>
      </p:sp>
      <p:sp>
        <p:nvSpPr>
          <p:cNvPr name="TextBox 3" id="3"/>
          <p:cNvSpPr txBox="true"/>
          <p:nvPr/>
        </p:nvSpPr>
        <p:spPr>
          <a:xfrm rot="0">
            <a:off x="6283452" y="6960871"/>
            <a:ext cx="6306145" cy="1893568"/>
          </a:xfrm>
          <a:prstGeom prst="rect">
            <a:avLst/>
          </a:prstGeom>
        </p:spPr>
        <p:txBody>
          <a:bodyPr anchor="t" rtlCol="false" tIns="0" lIns="0" bIns="0" rIns="0">
            <a:spAutoFit/>
          </a:bodyPr>
          <a:lstStyle/>
          <a:p>
            <a:pPr algn="ctr">
              <a:lnSpc>
                <a:spcPts val="3780"/>
              </a:lnSpc>
              <a:spcBef>
                <a:spcPct val="0"/>
              </a:spcBef>
            </a:pPr>
            <a:r>
              <a:rPr lang="en-US" sz="2700">
                <a:solidFill>
                  <a:srgbClr val="000000"/>
                </a:solidFill>
                <a:latin typeface="Canva Sans"/>
                <a:ea typeface="Canva Sans"/>
                <a:cs typeface="Canva Sans"/>
                <a:sym typeface="Canva Sans"/>
              </a:rPr>
              <a:t>Partipants:</a:t>
            </a:r>
          </a:p>
          <a:p>
            <a:pPr algn="ctr">
              <a:lnSpc>
                <a:spcPts val="3780"/>
              </a:lnSpc>
              <a:spcBef>
                <a:spcPct val="0"/>
              </a:spcBef>
            </a:pPr>
            <a:r>
              <a:rPr lang="en-US" sz="2700">
                <a:solidFill>
                  <a:srgbClr val="000000"/>
                </a:solidFill>
                <a:latin typeface="Canva Sans"/>
                <a:ea typeface="Canva Sans"/>
                <a:cs typeface="Canva Sans"/>
                <a:sym typeface="Canva Sans"/>
              </a:rPr>
              <a:t>Marzie Dezfoulianrad</a:t>
            </a:r>
          </a:p>
          <a:p>
            <a:pPr algn="ctr">
              <a:lnSpc>
                <a:spcPts val="3780"/>
              </a:lnSpc>
              <a:spcBef>
                <a:spcPct val="0"/>
              </a:spcBef>
            </a:pPr>
            <a:r>
              <a:rPr lang="en-US" sz="2700">
                <a:solidFill>
                  <a:srgbClr val="000000"/>
                </a:solidFill>
                <a:latin typeface="Canva Sans"/>
                <a:ea typeface="Canva Sans"/>
                <a:cs typeface="Canva Sans"/>
                <a:sym typeface="Canva Sans"/>
              </a:rPr>
              <a:t>Seyyed Mohammad Osuli Dezfuli Zade</a:t>
            </a:r>
          </a:p>
          <a:p>
            <a:pPr algn="ctr">
              <a:lnSpc>
                <a:spcPts val="3780"/>
              </a:lnSpc>
              <a:spcBef>
                <a:spcPct val="0"/>
              </a:spcBef>
            </a:pPr>
            <a:r>
              <a:rPr lang="en-US" sz="2700">
                <a:solidFill>
                  <a:srgbClr val="000000"/>
                </a:solidFill>
                <a:latin typeface="Canva Sans"/>
                <a:ea typeface="Canva Sans"/>
                <a:cs typeface="Canva Sans"/>
                <a:sym typeface="Canva Sans"/>
              </a:rPr>
              <a:t>Mozhgan Mohammadi</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D4EDF4"/>
        </a:solidFill>
      </p:bgPr>
    </p:bg>
    <p:spTree>
      <p:nvGrpSpPr>
        <p:cNvPr id="1" name=""/>
        <p:cNvGrpSpPr/>
        <p:nvPr/>
      </p:nvGrpSpPr>
      <p:grpSpPr>
        <a:xfrm>
          <a:off x="0" y="0"/>
          <a:ext cx="0" cy="0"/>
          <a:chOff x="0" y="0"/>
          <a:chExt cx="0" cy="0"/>
        </a:xfrm>
      </p:grpSpPr>
      <p:sp>
        <p:nvSpPr>
          <p:cNvPr name="TextBox 2" id="2"/>
          <p:cNvSpPr txBox="true"/>
          <p:nvPr/>
        </p:nvSpPr>
        <p:spPr>
          <a:xfrm rot="0">
            <a:off x="2925251" y="2342515"/>
            <a:ext cx="12437498" cy="5506720"/>
          </a:xfrm>
          <a:prstGeom prst="rect">
            <a:avLst/>
          </a:prstGeom>
        </p:spPr>
        <p:txBody>
          <a:bodyPr anchor="t" rtlCol="false" tIns="0" lIns="0" bIns="0" rIns="0">
            <a:spAutoFit/>
          </a:bodyPr>
          <a:lstStyle/>
          <a:p>
            <a:pPr algn="ctr">
              <a:lnSpc>
                <a:spcPts val="7279"/>
              </a:lnSpc>
            </a:pPr>
            <a:r>
              <a:rPr lang="en-US" sz="5199" b="true">
                <a:solidFill>
                  <a:srgbClr val="000000"/>
                </a:solidFill>
                <a:latin typeface="Canva Sans Bold"/>
                <a:ea typeface="Canva Sans Bold"/>
                <a:cs typeface="Canva Sans Bold"/>
                <a:sym typeface="Canva Sans Bold"/>
              </a:rPr>
              <a:t>We'll analyze tennis game data by exploring 17 key questions from a large dataset of matches. Our presentation will highlight the insights we've uncovered from this rich information.</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D4EDF4"/>
        </a:solidFill>
      </p:bgPr>
    </p:bg>
    <p:spTree>
      <p:nvGrpSpPr>
        <p:cNvPr id="1" name=""/>
        <p:cNvGrpSpPr/>
        <p:nvPr/>
      </p:nvGrpSpPr>
      <p:grpSpPr>
        <a:xfrm>
          <a:off x="0" y="0"/>
          <a:ext cx="0" cy="0"/>
          <a:chOff x="0" y="0"/>
          <a:chExt cx="0" cy="0"/>
        </a:xfrm>
      </p:grpSpPr>
      <p:sp>
        <p:nvSpPr>
          <p:cNvPr name="TextBox 2" id="2"/>
          <p:cNvSpPr txBox="true"/>
          <p:nvPr/>
        </p:nvSpPr>
        <p:spPr>
          <a:xfrm rot="0">
            <a:off x="1028700" y="857250"/>
            <a:ext cx="6685806" cy="1566544"/>
          </a:xfrm>
          <a:prstGeom prst="rect">
            <a:avLst/>
          </a:prstGeom>
        </p:spPr>
        <p:txBody>
          <a:bodyPr anchor="t" rtlCol="false" tIns="0" lIns="0" bIns="0" rIns="0">
            <a:spAutoFit/>
          </a:bodyPr>
          <a:lstStyle/>
          <a:p>
            <a:pPr algn="ctr">
              <a:lnSpc>
                <a:spcPts val="12880"/>
              </a:lnSpc>
            </a:pPr>
            <a:r>
              <a:rPr lang="en-US" sz="9200" b="true">
                <a:solidFill>
                  <a:srgbClr val="000000"/>
                </a:solidFill>
                <a:latin typeface="Canva Sans Bold"/>
                <a:ea typeface="Canva Sans Bold"/>
                <a:cs typeface="Canva Sans Bold"/>
                <a:sym typeface="Canva Sans Bold"/>
              </a:rPr>
              <a:t>Question 1 :</a:t>
            </a:r>
          </a:p>
        </p:txBody>
      </p:sp>
      <p:sp>
        <p:nvSpPr>
          <p:cNvPr name="TextBox 3" id="3"/>
          <p:cNvSpPr txBox="true"/>
          <p:nvPr/>
        </p:nvSpPr>
        <p:spPr>
          <a:xfrm rot="0">
            <a:off x="1028700" y="5048250"/>
            <a:ext cx="16230600" cy="2734945"/>
          </a:xfrm>
          <a:prstGeom prst="rect">
            <a:avLst/>
          </a:prstGeom>
        </p:spPr>
        <p:txBody>
          <a:bodyPr anchor="t" rtlCol="false" tIns="0" lIns="0" bIns="0" rIns="0">
            <a:spAutoFit/>
          </a:bodyPr>
          <a:lstStyle/>
          <a:p>
            <a:pPr algn="l">
              <a:lnSpc>
                <a:spcPts val="7279"/>
              </a:lnSpc>
            </a:pPr>
            <a:r>
              <a:rPr lang="en-US" sz="5199" b="true">
                <a:solidFill>
                  <a:srgbClr val="000000"/>
                </a:solidFill>
                <a:latin typeface="Canva Sans Bold"/>
                <a:ea typeface="Canva Sans Bold"/>
                <a:cs typeface="Canva Sans Bold"/>
                <a:sym typeface="Canva Sans Bold"/>
              </a:rPr>
              <a:t>How</a:t>
            </a:r>
            <a:r>
              <a:rPr lang="en-US" sz="5199" b="true">
                <a:solidFill>
                  <a:srgbClr val="000000"/>
                </a:solidFill>
                <a:latin typeface="Canva Sans Bold"/>
                <a:ea typeface="Canva Sans Bold"/>
                <a:cs typeface="Canva Sans Bold"/>
                <a:sym typeface="Canva Sans Bold"/>
              </a:rPr>
              <a:t> many tennis players are included in the dataset?</a:t>
            </a:r>
          </a:p>
          <a:p>
            <a:pPr algn="l">
              <a:lnSpc>
                <a:spcPts val="7279"/>
              </a:lnSpc>
            </a:pP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D4EDF4"/>
        </a:solidFill>
      </p:bgPr>
    </p:bg>
    <p:spTree>
      <p:nvGrpSpPr>
        <p:cNvPr id="1" name=""/>
        <p:cNvGrpSpPr/>
        <p:nvPr/>
      </p:nvGrpSpPr>
      <p:grpSpPr>
        <a:xfrm>
          <a:off x="0" y="0"/>
          <a:ext cx="0" cy="0"/>
          <a:chOff x="0" y="0"/>
          <a:chExt cx="0" cy="0"/>
        </a:xfrm>
      </p:grpSpPr>
      <p:sp>
        <p:nvSpPr>
          <p:cNvPr name="TextBox 2" id="2"/>
          <p:cNvSpPr txBox="true"/>
          <p:nvPr/>
        </p:nvSpPr>
        <p:spPr>
          <a:xfrm rot="0">
            <a:off x="1755151" y="2804477"/>
            <a:ext cx="14777699" cy="4582795"/>
          </a:xfrm>
          <a:prstGeom prst="rect">
            <a:avLst/>
          </a:prstGeom>
        </p:spPr>
        <p:txBody>
          <a:bodyPr anchor="t" rtlCol="false" tIns="0" lIns="0" bIns="0" rIns="0">
            <a:spAutoFit/>
          </a:bodyPr>
          <a:lstStyle/>
          <a:p>
            <a:pPr algn="ctr">
              <a:lnSpc>
                <a:spcPts val="7279"/>
              </a:lnSpc>
              <a:spcBef>
                <a:spcPct val="0"/>
              </a:spcBef>
            </a:pPr>
            <a:r>
              <a:rPr lang="en-US" b="true" sz="5199">
                <a:solidFill>
                  <a:srgbClr val="000000"/>
                </a:solidFill>
                <a:latin typeface="Canva Sans Bold"/>
                <a:ea typeface="Canva Sans Bold"/>
                <a:cs typeface="Canva Sans Bold"/>
                <a:sym typeface="Canva Sans Bold"/>
              </a:rPr>
              <a:t>N</a:t>
            </a:r>
            <a:r>
              <a:rPr lang="en-US" b="true" sz="5199">
                <a:solidFill>
                  <a:srgbClr val="000000"/>
                </a:solidFill>
                <a:latin typeface="Canva Sans Bold"/>
                <a:ea typeface="Canva Sans Bold"/>
                <a:cs typeface="Canva Sans Bold"/>
                <a:sym typeface="Canva Sans Bold"/>
              </a:rPr>
              <a:t>umber of Tennis Players in the Dataset (Excluding Nulls)</a:t>
            </a:r>
          </a:p>
          <a:p>
            <a:pPr algn="ctr">
              <a:lnSpc>
                <a:spcPts val="7279"/>
              </a:lnSpc>
              <a:spcBef>
                <a:spcPct val="0"/>
              </a:spcBef>
            </a:pPr>
            <a:r>
              <a:rPr lang="en-US" b="true" sz="5199">
                <a:solidFill>
                  <a:srgbClr val="000000"/>
                </a:solidFill>
                <a:latin typeface="Canva Sans Bold"/>
                <a:ea typeface="Canva Sans Bold"/>
                <a:cs typeface="Canva Sans Bold"/>
                <a:sym typeface="Canva Sans Bold"/>
              </a:rPr>
              <a:t>   Unique Home Team Players 2447  </a:t>
            </a:r>
          </a:p>
          <a:p>
            <a:pPr algn="ctr">
              <a:lnSpc>
                <a:spcPts val="7279"/>
              </a:lnSpc>
              <a:spcBef>
                <a:spcPct val="0"/>
              </a:spcBef>
            </a:pPr>
            <a:r>
              <a:rPr lang="en-US" b="true" sz="5199">
                <a:solidFill>
                  <a:srgbClr val="000000"/>
                </a:solidFill>
                <a:latin typeface="Canva Sans Bold"/>
                <a:ea typeface="Canva Sans Bold"/>
                <a:cs typeface="Canva Sans Bold"/>
                <a:sym typeface="Canva Sans Bold"/>
              </a:rPr>
              <a:t>Unique Away Team Players 2479 </a:t>
            </a:r>
          </a:p>
          <a:p>
            <a:pPr algn="ctr">
              <a:lnSpc>
                <a:spcPts val="7279"/>
              </a:lnSpc>
              <a:spcBef>
                <a:spcPct val="0"/>
              </a:spcBef>
            </a:pPr>
            <a:r>
              <a:rPr lang="en-US" b="true" sz="5199">
                <a:solidFill>
                  <a:srgbClr val="000000"/>
                </a:solidFill>
                <a:latin typeface="Canva Sans Bold"/>
                <a:ea typeface="Canva Sans Bold"/>
                <a:cs typeface="Canva Sans Bold"/>
                <a:sym typeface="Canva Sans Bold"/>
              </a:rPr>
              <a:t>Total Unique Players (Combined) 2644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D4EDF4"/>
        </a:solidFill>
      </p:bgPr>
    </p:bg>
    <p:spTree>
      <p:nvGrpSpPr>
        <p:cNvPr id="1" name=""/>
        <p:cNvGrpSpPr/>
        <p:nvPr/>
      </p:nvGrpSpPr>
      <p:grpSpPr>
        <a:xfrm>
          <a:off x="0" y="0"/>
          <a:ext cx="0" cy="0"/>
          <a:chOff x="0" y="0"/>
          <a:chExt cx="0" cy="0"/>
        </a:xfrm>
      </p:grpSpPr>
      <p:sp>
        <p:nvSpPr>
          <p:cNvPr name="Freeform 2" id="2"/>
          <p:cNvSpPr/>
          <p:nvPr/>
        </p:nvSpPr>
        <p:spPr>
          <a:xfrm flipH="false" flipV="false" rot="0">
            <a:off x="587799" y="1400162"/>
            <a:ext cx="17112403" cy="7486676"/>
          </a:xfrm>
          <a:custGeom>
            <a:avLst/>
            <a:gdLst/>
            <a:ahLst/>
            <a:cxnLst/>
            <a:rect r="r" b="b" t="t" l="l"/>
            <a:pathLst>
              <a:path h="7486676" w="17112403">
                <a:moveTo>
                  <a:pt x="0" y="0"/>
                </a:moveTo>
                <a:lnTo>
                  <a:pt x="17112402" y="0"/>
                </a:lnTo>
                <a:lnTo>
                  <a:pt x="17112402" y="7486676"/>
                </a:lnTo>
                <a:lnTo>
                  <a:pt x="0" y="7486676"/>
                </a:lnTo>
                <a:lnTo>
                  <a:pt x="0" y="0"/>
                </a:lnTo>
                <a:close/>
              </a:path>
            </a:pathLst>
          </a:custGeom>
          <a:blipFill>
            <a:blip r:embed="rId2"/>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p:cSld>
    <p:bg>
      <p:bgPr>
        <a:solidFill>
          <a:srgbClr val="D4EDF4"/>
        </a:solidFill>
      </p:bgPr>
    </p:bg>
    <p:spTree>
      <p:nvGrpSpPr>
        <p:cNvPr id="1" name=""/>
        <p:cNvGrpSpPr/>
        <p:nvPr/>
      </p:nvGrpSpPr>
      <p:grpSpPr>
        <a:xfrm>
          <a:off x="0" y="0"/>
          <a:ext cx="0" cy="0"/>
          <a:chOff x="0" y="0"/>
          <a:chExt cx="0" cy="0"/>
        </a:xfrm>
      </p:grpSpPr>
      <p:sp>
        <p:nvSpPr>
          <p:cNvPr name="TextBox 2" id="2"/>
          <p:cNvSpPr txBox="true"/>
          <p:nvPr/>
        </p:nvSpPr>
        <p:spPr>
          <a:xfrm rot="0">
            <a:off x="1010989" y="857250"/>
            <a:ext cx="6721227" cy="1566544"/>
          </a:xfrm>
          <a:prstGeom prst="rect">
            <a:avLst/>
          </a:prstGeom>
        </p:spPr>
        <p:txBody>
          <a:bodyPr anchor="t" rtlCol="false" tIns="0" lIns="0" bIns="0" rIns="0">
            <a:spAutoFit/>
          </a:bodyPr>
          <a:lstStyle/>
          <a:p>
            <a:pPr algn="ctr">
              <a:lnSpc>
                <a:spcPts val="12880"/>
              </a:lnSpc>
            </a:pPr>
            <a:r>
              <a:rPr lang="en-US" sz="9200" b="true">
                <a:solidFill>
                  <a:srgbClr val="000000"/>
                </a:solidFill>
                <a:latin typeface="Canva Sans Bold"/>
                <a:ea typeface="Canva Sans Bold"/>
                <a:cs typeface="Canva Sans Bold"/>
                <a:sym typeface="Canva Sans Bold"/>
              </a:rPr>
              <a:t>Question 2 :</a:t>
            </a:r>
          </a:p>
        </p:txBody>
      </p:sp>
      <p:sp>
        <p:nvSpPr>
          <p:cNvPr name="TextBox 3" id="3"/>
          <p:cNvSpPr txBox="true"/>
          <p:nvPr/>
        </p:nvSpPr>
        <p:spPr>
          <a:xfrm rot="0">
            <a:off x="1028700" y="5048250"/>
            <a:ext cx="16230600" cy="1811020"/>
          </a:xfrm>
          <a:prstGeom prst="rect">
            <a:avLst/>
          </a:prstGeom>
        </p:spPr>
        <p:txBody>
          <a:bodyPr anchor="t" rtlCol="false" tIns="0" lIns="0" bIns="0" rIns="0">
            <a:spAutoFit/>
          </a:bodyPr>
          <a:lstStyle/>
          <a:p>
            <a:pPr algn="l">
              <a:lnSpc>
                <a:spcPts val="7279"/>
              </a:lnSpc>
            </a:pPr>
            <a:r>
              <a:rPr lang="en-US" sz="5199" b="true">
                <a:solidFill>
                  <a:srgbClr val="000000"/>
                </a:solidFill>
                <a:latin typeface="Canva Sans Bold"/>
                <a:ea typeface="Canva Sans Bold"/>
                <a:cs typeface="Canva Sans Bold"/>
                <a:sym typeface="Canva Sans Bold"/>
              </a:rPr>
              <a:t>Wh</a:t>
            </a:r>
            <a:r>
              <a:rPr lang="en-US" sz="5199" b="true">
                <a:solidFill>
                  <a:srgbClr val="000000"/>
                </a:solidFill>
                <a:latin typeface="Canva Sans Bold"/>
                <a:ea typeface="Canva Sans Bold"/>
                <a:cs typeface="Canva Sans Bold"/>
                <a:sym typeface="Canva Sans Bold"/>
              </a:rPr>
              <a:t>at is the average height of the players?</a:t>
            </a:r>
          </a:p>
          <a:p>
            <a:pPr algn="l">
              <a:lnSpc>
                <a:spcPts val="7279"/>
              </a:lnSpc>
            </a:pP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D4EDF4"/>
        </a:solidFill>
      </p:bgPr>
    </p:bg>
    <p:spTree>
      <p:nvGrpSpPr>
        <p:cNvPr id="1" name=""/>
        <p:cNvGrpSpPr/>
        <p:nvPr/>
      </p:nvGrpSpPr>
      <p:grpSpPr>
        <a:xfrm>
          <a:off x="0" y="0"/>
          <a:ext cx="0" cy="0"/>
          <a:chOff x="0" y="0"/>
          <a:chExt cx="0" cy="0"/>
        </a:xfrm>
      </p:grpSpPr>
      <p:sp>
        <p:nvSpPr>
          <p:cNvPr name="TextBox 2" id="2"/>
          <p:cNvSpPr txBox="true"/>
          <p:nvPr/>
        </p:nvSpPr>
        <p:spPr>
          <a:xfrm rot="0">
            <a:off x="1623893" y="3266440"/>
            <a:ext cx="15040213" cy="3658870"/>
          </a:xfrm>
          <a:prstGeom prst="rect">
            <a:avLst/>
          </a:prstGeom>
        </p:spPr>
        <p:txBody>
          <a:bodyPr anchor="t" rtlCol="false" tIns="0" lIns="0" bIns="0" rIns="0">
            <a:spAutoFit/>
          </a:bodyPr>
          <a:lstStyle/>
          <a:p>
            <a:pPr algn="ctr">
              <a:lnSpc>
                <a:spcPts val="7279"/>
              </a:lnSpc>
              <a:spcBef>
                <a:spcPct val="0"/>
              </a:spcBef>
            </a:pPr>
            <a:r>
              <a:rPr lang="en-US" b="true" sz="5199">
                <a:solidFill>
                  <a:srgbClr val="000000"/>
                </a:solidFill>
                <a:latin typeface="Canva Sans Bold"/>
                <a:ea typeface="Canva Sans Bold"/>
                <a:cs typeface="Canva Sans Bold"/>
                <a:sym typeface="Canva Sans Bold"/>
              </a:rPr>
              <a:t>C</a:t>
            </a:r>
            <a:r>
              <a:rPr lang="en-US" b="true" sz="5199">
                <a:solidFill>
                  <a:srgbClr val="000000"/>
                </a:solidFill>
                <a:latin typeface="Canva Sans Bold"/>
                <a:ea typeface="Canva Sans Bold"/>
                <a:cs typeface="Canva Sans Bold"/>
                <a:sym typeface="Canva Sans Bold"/>
              </a:rPr>
              <a:t>ombined all players data shape: </a:t>
            </a:r>
          </a:p>
          <a:p>
            <a:pPr algn="ctr">
              <a:lnSpc>
                <a:spcPts val="7279"/>
              </a:lnSpc>
              <a:spcBef>
                <a:spcPct val="0"/>
              </a:spcBef>
            </a:pPr>
            <a:r>
              <a:rPr lang="en-US" b="true" sz="5199">
                <a:solidFill>
                  <a:srgbClr val="000000"/>
                </a:solidFill>
                <a:latin typeface="Canva Sans Bold"/>
                <a:ea typeface="Canva Sans Bold"/>
                <a:cs typeface="Canva Sans Bold"/>
                <a:sym typeface="Canva Sans Bold"/>
              </a:rPr>
              <a:t>Median height used for filling NaN values: 1.83 </a:t>
            </a:r>
          </a:p>
          <a:p>
            <a:pPr algn="ctr">
              <a:lnSpc>
                <a:spcPts val="7279"/>
              </a:lnSpc>
              <a:spcBef>
                <a:spcPct val="0"/>
              </a:spcBef>
            </a:pPr>
            <a:r>
              <a:rPr lang="en-US" b="true" sz="5199">
                <a:solidFill>
                  <a:srgbClr val="000000"/>
                </a:solidFill>
                <a:latin typeface="Canva Sans Bold"/>
                <a:ea typeface="Canva Sans Bold"/>
                <a:cs typeface="Canva Sans Bold"/>
                <a:sym typeface="Canva Sans Bold"/>
              </a:rPr>
              <a:t>The Arithmetic Mean of Player Heights is: 1.83 </a:t>
            </a:r>
          </a:p>
          <a:p>
            <a:pPr algn="ctr">
              <a:lnSpc>
                <a:spcPts val="7279"/>
              </a:lnSpc>
              <a:spcBef>
                <a:spcPct val="0"/>
              </a:spcBef>
            </a:pPr>
            <a:r>
              <a:rPr lang="en-US" b="true" sz="5199">
                <a:solidFill>
                  <a:srgbClr val="000000"/>
                </a:solidFill>
                <a:latin typeface="Canva Sans Bold"/>
                <a:ea typeface="Canva Sans Bold"/>
                <a:cs typeface="Canva Sans Bold"/>
                <a:sym typeface="Canva Sans Bold"/>
              </a:rPr>
              <a:t>Mode of Height: 1.83</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D4EDF4"/>
        </a:solidFill>
      </p:bgPr>
    </p:bg>
    <p:spTree>
      <p:nvGrpSpPr>
        <p:cNvPr id="1" name=""/>
        <p:cNvGrpSpPr/>
        <p:nvPr/>
      </p:nvGrpSpPr>
      <p:grpSpPr>
        <a:xfrm>
          <a:off x="0" y="0"/>
          <a:ext cx="0" cy="0"/>
          <a:chOff x="0" y="0"/>
          <a:chExt cx="0" cy="0"/>
        </a:xfrm>
      </p:grpSpPr>
      <p:sp>
        <p:nvSpPr>
          <p:cNvPr name="Freeform 2" id="2"/>
          <p:cNvSpPr/>
          <p:nvPr/>
        </p:nvSpPr>
        <p:spPr>
          <a:xfrm flipH="false" flipV="false" rot="0">
            <a:off x="607865" y="1440951"/>
            <a:ext cx="17072270" cy="7405097"/>
          </a:xfrm>
          <a:custGeom>
            <a:avLst/>
            <a:gdLst/>
            <a:ahLst/>
            <a:cxnLst/>
            <a:rect r="r" b="b" t="t" l="l"/>
            <a:pathLst>
              <a:path h="7405097" w="17072270">
                <a:moveTo>
                  <a:pt x="0" y="0"/>
                </a:moveTo>
                <a:lnTo>
                  <a:pt x="17072270" y="0"/>
                </a:lnTo>
                <a:lnTo>
                  <a:pt x="17072270" y="7405098"/>
                </a:lnTo>
                <a:lnTo>
                  <a:pt x="0" y="7405098"/>
                </a:lnTo>
                <a:lnTo>
                  <a:pt x="0" y="0"/>
                </a:lnTo>
                <a:close/>
              </a:path>
            </a:pathLst>
          </a:custGeom>
          <a:blipFill>
            <a:blip r:embed="rId2"/>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p:cSld>
    <p:bg>
      <p:bgPr>
        <a:solidFill>
          <a:srgbClr val="D4EDF4"/>
        </a:solidFill>
      </p:bgPr>
    </p:bg>
    <p:spTree>
      <p:nvGrpSpPr>
        <p:cNvPr id="1" name=""/>
        <p:cNvGrpSpPr/>
        <p:nvPr/>
      </p:nvGrpSpPr>
      <p:grpSpPr>
        <a:xfrm>
          <a:off x="0" y="0"/>
          <a:ext cx="0" cy="0"/>
          <a:chOff x="0" y="0"/>
          <a:chExt cx="0" cy="0"/>
        </a:xfrm>
      </p:grpSpPr>
      <p:sp>
        <p:nvSpPr>
          <p:cNvPr name="TextBox 2" id="2"/>
          <p:cNvSpPr txBox="true"/>
          <p:nvPr/>
        </p:nvSpPr>
        <p:spPr>
          <a:xfrm rot="0">
            <a:off x="2006875" y="1260426"/>
            <a:ext cx="15065694" cy="8278495"/>
          </a:xfrm>
          <a:prstGeom prst="rect">
            <a:avLst/>
          </a:prstGeom>
        </p:spPr>
        <p:txBody>
          <a:bodyPr anchor="t" rtlCol="false" tIns="0" lIns="0" bIns="0" rIns="0">
            <a:spAutoFit/>
          </a:bodyPr>
          <a:lstStyle/>
          <a:p>
            <a:pPr algn="ctr">
              <a:lnSpc>
                <a:spcPts val="7279"/>
              </a:lnSpc>
            </a:pPr>
            <a:r>
              <a:rPr lang="en-US" sz="5199" b="true">
                <a:solidFill>
                  <a:srgbClr val="000000"/>
                </a:solidFill>
                <a:latin typeface="Canva Sans Bold"/>
                <a:ea typeface="Canva Sans Bold"/>
                <a:cs typeface="Canva Sans Bold"/>
                <a:sym typeface="Canva Sans Bold"/>
              </a:rPr>
              <a:t>We have a tall, narrow bell curve peaking at 1.83 cm.</a:t>
            </a:r>
          </a:p>
          <a:p>
            <a:pPr algn="ctr">
              <a:lnSpc>
                <a:spcPts val="7279"/>
              </a:lnSpc>
            </a:pPr>
            <a:r>
              <a:rPr lang="en-US" sz="5199" b="true">
                <a:solidFill>
                  <a:srgbClr val="000000"/>
                </a:solidFill>
                <a:latin typeface="Canva Sans Bold"/>
                <a:ea typeface="Canva Sans Bold"/>
                <a:cs typeface="Canva Sans Bold"/>
                <a:sym typeface="Canva Sans Bold"/>
              </a:rPr>
              <a:t>About 95% of all players fall between 1.78 cm and 1.88 cm.</a:t>
            </a:r>
          </a:p>
          <a:p>
            <a:pPr algn="ctr">
              <a:lnSpc>
                <a:spcPts val="7279"/>
              </a:lnSpc>
              <a:spcBef>
                <a:spcPct val="0"/>
              </a:spcBef>
            </a:pPr>
            <a:r>
              <a:rPr lang="en-US" b="true" sz="5199">
                <a:solidFill>
                  <a:srgbClr val="000000"/>
                </a:solidFill>
                <a:latin typeface="Canva Sans Bold"/>
                <a:ea typeface="Canva Sans Bold"/>
                <a:cs typeface="Canva Sans Bold"/>
                <a:sym typeface="Canva Sans Bold"/>
              </a:rPr>
              <a:t>There is a light left skew, which shows there are more players below 1.83 cm than above it and if we look closely we see that the tail stretches slightly more to the left than to the right.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D4EDF4"/>
        </a:solidFill>
      </p:bgPr>
    </p:bg>
    <p:spTree>
      <p:nvGrpSpPr>
        <p:cNvPr id="1" name=""/>
        <p:cNvGrpSpPr/>
        <p:nvPr/>
      </p:nvGrpSpPr>
      <p:grpSpPr>
        <a:xfrm>
          <a:off x="0" y="0"/>
          <a:ext cx="0" cy="0"/>
          <a:chOff x="0" y="0"/>
          <a:chExt cx="0" cy="0"/>
        </a:xfrm>
      </p:grpSpPr>
      <p:sp>
        <p:nvSpPr>
          <p:cNvPr name="Freeform 2" id="2"/>
          <p:cNvSpPr/>
          <p:nvPr/>
        </p:nvSpPr>
        <p:spPr>
          <a:xfrm flipH="false" flipV="false" rot="0">
            <a:off x="692425" y="1865566"/>
            <a:ext cx="17394668" cy="7392734"/>
          </a:xfrm>
          <a:custGeom>
            <a:avLst/>
            <a:gdLst/>
            <a:ahLst/>
            <a:cxnLst/>
            <a:rect r="r" b="b" t="t" l="l"/>
            <a:pathLst>
              <a:path h="7392734" w="17394668">
                <a:moveTo>
                  <a:pt x="0" y="0"/>
                </a:moveTo>
                <a:lnTo>
                  <a:pt x="17394668" y="0"/>
                </a:lnTo>
                <a:lnTo>
                  <a:pt x="17394668" y="7392734"/>
                </a:lnTo>
                <a:lnTo>
                  <a:pt x="0" y="7392734"/>
                </a:lnTo>
                <a:lnTo>
                  <a:pt x="0" y="0"/>
                </a:lnTo>
                <a:close/>
              </a:path>
            </a:pathLst>
          </a:custGeom>
          <a:blipFill>
            <a:blip r:embed="rId2"/>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p:cSld>
    <p:bg>
      <p:bgPr>
        <a:solidFill>
          <a:srgbClr val="D4EDF4"/>
        </a:solidFill>
      </p:bgPr>
    </p:bg>
    <p:spTree>
      <p:nvGrpSpPr>
        <p:cNvPr id="1" name=""/>
        <p:cNvGrpSpPr/>
        <p:nvPr/>
      </p:nvGrpSpPr>
      <p:grpSpPr>
        <a:xfrm>
          <a:off x="0" y="0"/>
          <a:ext cx="0" cy="0"/>
          <a:chOff x="0" y="0"/>
          <a:chExt cx="0" cy="0"/>
        </a:xfrm>
      </p:grpSpPr>
      <p:sp>
        <p:nvSpPr>
          <p:cNvPr name="TextBox 2" id="2"/>
          <p:cNvSpPr txBox="true"/>
          <p:nvPr/>
        </p:nvSpPr>
        <p:spPr>
          <a:xfrm rot="0">
            <a:off x="991344" y="857250"/>
            <a:ext cx="6760518" cy="1566544"/>
          </a:xfrm>
          <a:prstGeom prst="rect">
            <a:avLst/>
          </a:prstGeom>
        </p:spPr>
        <p:txBody>
          <a:bodyPr anchor="t" rtlCol="false" tIns="0" lIns="0" bIns="0" rIns="0">
            <a:spAutoFit/>
          </a:bodyPr>
          <a:lstStyle/>
          <a:p>
            <a:pPr algn="ctr">
              <a:lnSpc>
                <a:spcPts val="12880"/>
              </a:lnSpc>
            </a:pPr>
            <a:r>
              <a:rPr lang="en-US" sz="9200" b="true">
                <a:solidFill>
                  <a:srgbClr val="000000"/>
                </a:solidFill>
                <a:latin typeface="Canva Sans Bold"/>
                <a:ea typeface="Canva Sans Bold"/>
                <a:cs typeface="Canva Sans Bold"/>
                <a:sym typeface="Canva Sans Bold"/>
              </a:rPr>
              <a:t>Question 3 :</a:t>
            </a:r>
          </a:p>
        </p:txBody>
      </p:sp>
      <p:sp>
        <p:nvSpPr>
          <p:cNvPr name="TextBox 3" id="3"/>
          <p:cNvSpPr txBox="true"/>
          <p:nvPr/>
        </p:nvSpPr>
        <p:spPr>
          <a:xfrm rot="0">
            <a:off x="1028700" y="5048250"/>
            <a:ext cx="16230600" cy="1811020"/>
          </a:xfrm>
          <a:prstGeom prst="rect">
            <a:avLst/>
          </a:prstGeom>
        </p:spPr>
        <p:txBody>
          <a:bodyPr anchor="t" rtlCol="false" tIns="0" lIns="0" bIns="0" rIns="0">
            <a:spAutoFit/>
          </a:bodyPr>
          <a:lstStyle/>
          <a:p>
            <a:pPr algn="l">
              <a:lnSpc>
                <a:spcPts val="7279"/>
              </a:lnSpc>
            </a:pPr>
            <a:r>
              <a:rPr lang="en-US" sz="5199" b="true">
                <a:solidFill>
                  <a:srgbClr val="000000"/>
                </a:solidFill>
                <a:latin typeface="Canva Sans Bold"/>
                <a:ea typeface="Canva Sans Bold"/>
                <a:cs typeface="Canva Sans Bold"/>
                <a:sym typeface="Canva Sans Bold"/>
              </a:rPr>
              <a:t>Wh</a:t>
            </a:r>
            <a:r>
              <a:rPr lang="en-US" sz="5199" b="true">
                <a:solidFill>
                  <a:srgbClr val="000000"/>
                </a:solidFill>
                <a:latin typeface="Canva Sans Bold"/>
                <a:ea typeface="Canva Sans Bold"/>
                <a:cs typeface="Canva Sans Bold"/>
                <a:sym typeface="Canva Sans Bold"/>
              </a:rPr>
              <a:t>ich player has the highest number of wins?</a:t>
            </a:r>
          </a:p>
          <a:p>
            <a:pPr algn="l">
              <a:lnSpc>
                <a:spcPts val="7279"/>
              </a:lnSpc>
            </a:pP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D4EDF4"/>
        </a:solidFill>
      </p:bgPr>
    </p:bg>
    <p:spTree>
      <p:nvGrpSpPr>
        <p:cNvPr id="1" name=""/>
        <p:cNvGrpSpPr/>
        <p:nvPr/>
      </p:nvGrpSpPr>
      <p:grpSpPr>
        <a:xfrm>
          <a:off x="0" y="0"/>
          <a:ext cx="0" cy="0"/>
          <a:chOff x="0" y="0"/>
          <a:chExt cx="0" cy="0"/>
        </a:xfrm>
      </p:grpSpPr>
      <p:sp>
        <p:nvSpPr>
          <p:cNvPr name="TextBox 2" id="2"/>
          <p:cNvSpPr txBox="true"/>
          <p:nvPr/>
        </p:nvSpPr>
        <p:spPr>
          <a:xfrm rot="0">
            <a:off x="3046154" y="933450"/>
            <a:ext cx="12195692" cy="7354570"/>
          </a:xfrm>
          <a:prstGeom prst="rect">
            <a:avLst/>
          </a:prstGeom>
        </p:spPr>
        <p:txBody>
          <a:bodyPr anchor="t" rtlCol="false" tIns="0" lIns="0" bIns="0" rIns="0">
            <a:spAutoFit/>
          </a:bodyPr>
          <a:lstStyle/>
          <a:p>
            <a:pPr algn="ctr">
              <a:lnSpc>
                <a:spcPts val="7279"/>
              </a:lnSpc>
            </a:pPr>
            <a:r>
              <a:rPr lang="en-US" sz="5199" b="true">
                <a:solidFill>
                  <a:srgbClr val="000000"/>
                </a:solidFill>
                <a:latin typeface="Canva Sans Bold"/>
                <a:ea typeface="Canva Sans Bold"/>
                <a:cs typeface="Canva Sans Bold"/>
                <a:sym typeface="Canva Sans Bold"/>
              </a:rPr>
              <a:t>Total Actual Winners Found : 2320</a:t>
            </a:r>
          </a:p>
          <a:p>
            <a:pPr algn="ctr">
              <a:lnSpc>
                <a:spcPts val="7279"/>
              </a:lnSpc>
            </a:pPr>
          </a:p>
          <a:p>
            <a:pPr algn="ctr">
              <a:lnSpc>
                <a:spcPts val="7279"/>
              </a:lnSpc>
            </a:pPr>
            <a:r>
              <a:rPr lang="en-US" sz="5199" b="true">
                <a:solidFill>
                  <a:srgbClr val="000000"/>
                </a:solidFill>
                <a:latin typeface="Canva Sans Bold"/>
                <a:ea typeface="Canva Sans Bold"/>
                <a:cs typeface="Canva Sans Bold"/>
                <a:sym typeface="Canva Sans Bold"/>
              </a:rPr>
              <a:t>Winning Full Name</a:t>
            </a:r>
          </a:p>
          <a:p>
            <a:pPr algn="ctr">
              <a:lnSpc>
                <a:spcPts val="7279"/>
              </a:lnSpc>
            </a:pPr>
            <a:r>
              <a:rPr lang="en-US" sz="5199" b="true">
                <a:solidFill>
                  <a:srgbClr val="000000"/>
                </a:solidFill>
                <a:latin typeface="Canva Sans Bold"/>
                <a:ea typeface="Canva Sans Bold"/>
                <a:cs typeface="Canva Sans Bold"/>
                <a:sym typeface="Canva Sans Bold"/>
              </a:rPr>
              <a:t>Popko, Dmitry                                           29</a:t>
            </a:r>
          </a:p>
          <a:p>
            <a:pPr algn="ctr">
              <a:lnSpc>
                <a:spcPts val="7279"/>
              </a:lnSpc>
            </a:pPr>
            <a:r>
              <a:rPr lang="en-US" sz="5199" b="true">
                <a:solidFill>
                  <a:srgbClr val="000000"/>
                </a:solidFill>
                <a:latin typeface="Canva Sans Bold"/>
                <a:ea typeface="Canva Sans Bold"/>
                <a:cs typeface="Canva Sans Bold"/>
                <a:sym typeface="Canva Sans Bold"/>
              </a:rPr>
              <a:t>Chidekh, Clement                                    22</a:t>
            </a:r>
          </a:p>
          <a:p>
            <a:pPr algn="ctr">
              <a:lnSpc>
                <a:spcPts val="7279"/>
              </a:lnSpc>
            </a:pPr>
            <a:r>
              <a:rPr lang="en-US" sz="5199" b="true">
                <a:solidFill>
                  <a:srgbClr val="000000"/>
                </a:solidFill>
                <a:latin typeface="Canva Sans Bold"/>
                <a:ea typeface="Canva Sans Bold"/>
                <a:cs typeface="Canva Sans Bold"/>
                <a:sym typeface="Canva Sans Bold"/>
              </a:rPr>
              <a:t>Gengel, Marek                                           21</a:t>
            </a:r>
          </a:p>
          <a:p>
            <a:pPr algn="ctr">
              <a:lnSpc>
                <a:spcPts val="7279"/>
              </a:lnSpc>
            </a:pPr>
            <a:r>
              <a:rPr lang="en-US" sz="5199" b="true">
                <a:solidFill>
                  <a:srgbClr val="000000"/>
                </a:solidFill>
                <a:latin typeface="Canva Sans Bold"/>
                <a:ea typeface="Canva Sans Bold"/>
                <a:cs typeface="Canva Sans Bold"/>
                <a:sym typeface="Canva Sans Bold"/>
              </a:rPr>
              <a:t>Jianu, Filip Cristian                                  21</a:t>
            </a:r>
          </a:p>
          <a:p>
            <a:pPr algn="ctr">
              <a:lnSpc>
                <a:spcPts val="7279"/>
              </a:lnSpc>
              <a:spcBef>
                <a:spcPct val="0"/>
              </a:spcBef>
            </a:pPr>
            <a:r>
              <a:rPr lang="en-US" b="true" sz="5199">
                <a:solidFill>
                  <a:srgbClr val="000000"/>
                </a:solidFill>
                <a:latin typeface="Canva Sans Bold"/>
                <a:ea typeface="Canva Sans Bold"/>
                <a:cs typeface="Canva Sans Bold"/>
                <a:sym typeface="Canva Sans Bold"/>
              </a:rPr>
              <a:t>Dellien Velsco, Murkel Alejandro      20</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D4EDF4"/>
        </a:solidFill>
      </p:bgPr>
    </p:bg>
    <p:spTree>
      <p:nvGrpSpPr>
        <p:cNvPr id="1" name=""/>
        <p:cNvGrpSpPr/>
        <p:nvPr/>
      </p:nvGrpSpPr>
      <p:grpSpPr>
        <a:xfrm>
          <a:off x="0" y="0"/>
          <a:ext cx="0" cy="0"/>
          <a:chOff x="0" y="0"/>
          <a:chExt cx="0" cy="0"/>
        </a:xfrm>
      </p:grpSpPr>
      <p:sp>
        <p:nvSpPr>
          <p:cNvPr name="Freeform 2" id="2"/>
          <p:cNvSpPr/>
          <p:nvPr/>
        </p:nvSpPr>
        <p:spPr>
          <a:xfrm flipH="false" flipV="false" rot="0">
            <a:off x="572627" y="139961"/>
            <a:ext cx="17142746" cy="10007078"/>
          </a:xfrm>
          <a:custGeom>
            <a:avLst/>
            <a:gdLst/>
            <a:ahLst/>
            <a:cxnLst/>
            <a:rect r="r" b="b" t="t" l="l"/>
            <a:pathLst>
              <a:path h="10007078" w="17142746">
                <a:moveTo>
                  <a:pt x="0" y="0"/>
                </a:moveTo>
                <a:lnTo>
                  <a:pt x="17142746" y="0"/>
                </a:lnTo>
                <a:lnTo>
                  <a:pt x="17142746" y="10007078"/>
                </a:lnTo>
                <a:lnTo>
                  <a:pt x="0" y="10007078"/>
                </a:lnTo>
                <a:lnTo>
                  <a:pt x="0" y="0"/>
                </a:lnTo>
                <a:close/>
              </a:path>
            </a:pathLst>
          </a:custGeom>
          <a:blipFill>
            <a:blip r:embed="rId2"/>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D4EDF4"/>
        </a:solidFill>
      </p:bgPr>
    </p:bg>
    <p:spTree>
      <p:nvGrpSpPr>
        <p:cNvPr id="1" name=""/>
        <p:cNvGrpSpPr/>
        <p:nvPr/>
      </p:nvGrpSpPr>
      <p:grpSpPr>
        <a:xfrm>
          <a:off x="0" y="0"/>
          <a:ext cx="0" cy="0"/>
          <a:chOff x="0" y="0"/>
          <a:chExt cx="0" cy="0"/>
        </a:xfrm>
      </p:grpSpPr>
      <p:sp>
        <p:nvSpPr>
          <p:cNvPr name="Freeform 2" id="2"/>
          <p:cNvSpPr/>
          <p:nvPr/>
        </p:nvSpPr>
        <p:spPr>
          <a:xfrm flipH="false" flipV="false" rot="0">
            <a:off x="1214043" y="365701"/>
            <a:ext cx="15859915" cy="9555599"/>
          </a:xfrm>
          <a:custGeom>
            <a:avLst/>
            <a:gdLst/>
            <a:ahLst/>
            <a:cxnLst/>
            <a:rect r="r" b="b" t="t" l="l"/>
            <a:pathLst>
              <a:path h="9555599" w="15859915">
                <a:moveTo>
                  <a:pt x="0" y="0"/>
                </a:moveTo>
                <a:lnTo>
                  <a:pt x="15859914" y="0"/>
                </a:lnTo>
                <a:lnTo>
                  <a:pt x="15859914" y="9555598"/>
                </a:lnTo>
                <a:lnTo>
                  <a:pt x="0" y="9555598"/>
                </a:lnTo>
                <a:lnTo>
                  <a:pt x="0" y="0"/>
                </a:lnTo>
                <a:close/>
              </a:path>
            </a:pathLst>
          </a:custGeom>
          <a:blipFill>
            <a:blip r:embed="rId2"/>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D4EDF4"/>
        </a:solidFill>
      </p:bgPr>
    </p:bg>
    <p:spTree>
      <p:nvGrpSpPr>
        <p:cNvPr id="1" name=""/>
        <p:cNvGrpSpPr/>
        <p:nvPr/>
      </p:nvGrpSpPr>
      <p:grpSpPr>
        <a:xfrm>
          <a:off x="0" y="0"/>
          <a:ext cx="0" cy="0"/>
          <a:chOff x="0" y="0"/>
          <a:chExt cx="0" cy="0"/>
        </a:xfrm>
      </p:grpSpPr>
      <p:sp>
        <p:nvSpPr>
          <p:cNvPr name="Freeform 2" id="2"/>
          <p:cNvSpPr/>
          <p:nvPr/>
        </p:nvSpPr>
        <p:spPr>
          <a:xfrm flipH="false" flipV="false" rot="0">
            <a:off x="1460652" y="341408"/>
            <a:ext cx="15366695" cy="9604184"/>
          </a:xfrm>
          <a:custGeom>
            <a:avLst/>
            <a:gdLst/>
            <a:ahLst/>
            <a:cxnLst/>
            <a:rect r="r" b="b" t="t" l="l"/>
            <a:pathLst>
              <a:path h="9604184" w="15366695">
                <a:moveTo>
                  <a:pt x="0" y="0"/>
                </a:moveTo>
                <a:lnTo>
                  <a:pt x="15366696" y="0"/>
                </a:lnTo>
                <a:lnTo>
                  <a:pt x="15366696" y="9604184"/>
                </a:lnTo>
                <a:lnTo>
                  <a:pt x="0" y="9604184"/>
                </a:lnTo>
                <a:lnTo>
                  <a:pt x="0" y="0"/>
                </a:lnTo>
                <a:close/>
              </a:path>
            </a:pathLst>
          </a:custGeom>
          <a:blipFill>
            <a:blip r:embed="rId2"/>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D4EDF4"/>
        </a:solidFill>
      </p:bgPr>
    </p:bg>
    <p:spTree>
      <p:nvGrpSpPr>
        <p:cNvPr id="1" name=""/>
        <p:cNvGrpSpPr/>
        <p:nvPr/>
      </p:nvGrpSpPr>
      <p:grpSpPr>
        <a:xfrm>
          <a:off x="0" y="0"/>
          <a:ext cx="0" cy="0"/>
          <a:chOff x="0" y="0"/>
          <a:chExt cx="0" cy="0"/>
        </a:xfrm>
      </p:grpSpPr>
      <p:sp>
        <p:nvSpPr>
          <p:cNvPr name="Freeform 2" id="2"/>
          <p:cNvSpPr/>
          <p:nvPr/>
        </p:nvSpPr>
        <p:spPr>
          <a:xfrm flipH="false" flipV="false" rot="0">
            <a:off x="4551001" y="443355"/>
            <a:ext cx="9185998" cy="9400291"/>
          </a:xfrm>
          <a:custGeom>
            <a:avLst/>
            <a:gdLst/>
            <a:ahLst/>
            <a:cxnLst/>
            <a:rect r="r" b="b" t="t" l="l"/>
            <a:pathLst>
              <a:path h="9400291" w="9185998">
                <a:moveTo>
                  <a:pt x="0" y="0"/>
                </a:moveTo>
                <a:lnTo>
                  <a:pt x="9185998" y="0"/>
                </a:lnTo>
                <a:lnTo>
                  <a:pt x="9185998" y="9400290"/>
                </a:lnTo>
                <a:lnTo>
                  <a:pt x="0" y="9400290"/>
                </a:lnTo>
                <a:lnTo>
                  <a:pt x="0" y="0"/>
                </a:lnTo>
                <a:close/>
              </a:path>
            </a:pathLst>
          </a:custGeom>
          <a:blipFill>
            <a:blip r:embed="rId2"/>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p:cSld>
    <p:bg>
      <p:bgPr>
        <a:solidFill>
          <a:srgbClr val="D4EDF4"/>
        </a:solidFill>
      </p:bgPr>
    </p:bg>
    <p:spTree>
      <p:nvGrpSpPr>
        <p:cNvPr id="1" name=""/>
        <p:cNvGrpSpPr/>
        <p:nvPr/>
      </p:nvGrpSpPr>
      <p:grpSpPr>
        <a:xfrm>
          <a:off x="0" y="0"/>
          <a:ext cx="0" cy="0"/>
          <a:chOff x="0" y="0"/>
          <a:chExt cx="0" cy="0"/>
        </a:xfrm>
      </p:grpSpPr>
      <p:sp>
        <p:nvSpPr>
          <p:cNvPr name="TextBox 2" id="2"/>
          <p:cNvSpPr txBox="true"/>
          <p:nvPr/>
        </p:nvSpPr>
        <p:spPr>
          <a:xfrm rot="0">
            <a:off x="973038" y="857250"/>
            <a:ext cx="6797129" cy="1566544"/>
          </a:xfrm>
          <a:prstGeom prst="rect">
            <a:avLst/>
          </a:prstGeom>
        </p:spPr>
        <p:txBody>
          <a:bodyPr anchor="t" rtlCol="false" tIns="0" lIns="0" bIns="0" rIns="0">
            <a:spAutoFit/>
          </a:bodyPr>
          <a:lstStyle/>
          <a:p>
            <a:pPr algn="ctr">
              <a:lnSpc>
                <a:spcPts val="12880"/>
              </a:lnSpc>
            </a:pPr>
            <a:r>
              <a:rPr lang="en-US" sz="9200" b="true">
                <a:solidFill>
                  <a:srgbClr val="000000"/>
                </a:solidFill>
                <a:latin typeface="Canva Sans Bold"/>
                <a:ea typeface="Canva Sans Bold"/>
                <a:cs typeface="Canva Sans Bold"/>
                <a:sym typeface="Canva Sans Bold"/>
              </a:rPr>
              <a:t>Question 4 :</a:t>
            </a:r>
          </a:p>
        </p:txBody>
      </p:sp>
      <p:sp>
        <p:nvSpPr>
          <p:cNvPr name="TextBox 3" id="3"/>
          <p:cNvSpPr txBox="true"/>
          <p:nvPr/>
        </p:nvSpPr>
        <p:spPr>
          <a:xfrm rot="0">
            <a:off x="1028700" y="5048250"/>
            <a:ext cx="16230600" cy="2734945"/>
          </a:xfrm>
          <a:prstGeom prst="rect">
            <a:avLst/>
          </a:prstGeom>
        </p:spPr>
        <p:txBody>
          <a:bodyPr anchor="t" rtlCol="false" tIns="0" lIns="0" bIns="0" rIns="0">
            <a:spAutoFit/>
          </a:bodyPr>
          <a:lstStyle/>
          <a:p>
            <a:pPr algn="l">
              <a:lnSpc>
                <a:spcPts val="7279"/>
              </a:lnSpc>
            </a:pPr>
            <a:r>
              <a:rPr lang="en-US" sz="5199" b="true">
                <a:solidFill>
                  <a:srgbClr val="000000"/>
                </a:solidFill>
                <a:latin typeface="Canva Sans Bold"/>
                <a:ea typeface="Canva Sans Bold"/>
                <a:cs typeface="Canva Sans Bold"/>
                <a:sym typeface="Canva Sans Bold"/>
              </a:rPr>
              <a:t>Wh</a:t>
            </a:r>
            <a:r>
              <a:rPr lang="en-US" sz="5199" b="true">
                <a:solidFill>
                  <a:srgbClr val="000000"/>
                </a:solidFill>
                <a:latin typeface="Canva Sans Bold"/>
                <a:ea typeface="Canva Sans Bold"/>
                <a:cs typeface="Canva Sans Bold"/>
                <a:sym typeface="Canva Sans Bold"/>
              </a:rPr>
              <a:t>at is the longest match recorded in terms of duration?</a:t>
            </a:r>
          </a:p>
          <a:p>
            <a:pPr algn="l">
              <a:lnSpc>
                <a:spcPts val="7279"/>
              </a:lnSpc>
            </a:pPr>
          </a:p>
        </p:txBody>
      </p:sp>
    </p:spTree>
  </p:cSld>
  <p:clrMapOvr>
    <a:masterClrMapping/>
  </p:clrMapOvr>
</p:sld>
</file>

<file path=ppt/slides/slide18.xml><?xml version="1.0" encoding="utf-8"?>
<p:sld xmlns:p="http://schemas.openxmlformats.org/presentationml/2006/main" xmlns:a="http://schemas.openxmlformats.org/drawingml/2006/main">
  <p:cSld>
    <p:bg>
      <p:bgPr>
        <a:solidFill>
          <a:srgbClr val="D4EDF4"/>
        </a:solidFill>
      </p:bgPr>
    </p:bg>
    <p:spTree>
      <p:nvGrpSpPr>
        <p:cNvPr id="1" name=""/>
        <p:cNvGrpSpPr/>
        <p:nvPr/>
      </p:nvGrpSpPr>
      <p:grpSpPr>
        <a:xfrm>
          <a:off x="0" y="0"/>
          <a:ext cx="0" cy="0"/>
          <a:chOff x="0" y="0"/>
          <a:chExt cx="0" cy="0"/>
        </a:xfrm>
      </p:grpSpPr>
      <p:sp>
        <p:nvSpPr>
          <p:cNvPr name="TextBox 2" id="2"/>
          <p:cNvSpPr txBox="true"/>
          <p:nvPr/>
        </p:nvSpPr>
        <p:spPr>
          <a:xfrm rot="0">
            <a:off x="3601224" y="4652327"/>
            <a:ext cx="11085552" cy="1811020"/>
          </a:xfrm>
          <a:prstGeom prst="rect">
            <a:avLst/>
          </a:prstGeom>
        </p:spPr>
        <p:txBody>
          <a:bodyPr anchor="t" rtlCol="false" tIns="0" lIns="0" bIns="0" rIns="0">
            <a:spAutoFit/>
          </a:bodyPr>
          <a:lstStyle/>
          <a:p>
            <a:pPr algn="ctr">
              <a:lnSpc>
                <a:spcPts val="7279"/>
              </a:lnSpc>
              <a:spcBef>
                <a:spcPct val="0"/>
              </a:spcBef>
            </a:pPr>
            <a:r>
              <a:rPr lang="en-US" b="true" sz="5199">
                <a:solidFill>
                  <a:srgbClr val="000000"/>
                </a:solidFill>
                <a:latin typeface="Canva Sans Bold"/>
                <a:ea typeface="Canva Sans Bold"/>
                <a:cs typeface="Canva Sans Bold"/>
                <a:sym typeface="Canva Sans Bold"/>
              </a:rPr>
              <a:t>ID of the L</a:t>
            </a:r>
            <a:r>
              <a:rPr lang="en-US" b="true" sz="5199">
                <a:solidFill>
                  <a:srgbClr val="000000"/>
                </a:solidFill>
                <a:latin typeface="Canva Sans Bold"/>
                <a:ea typeface="Canva Sans Bold"/>
                <a:cs typeface="Canva Sans Bold"/>
                <a:sym typeface="Canva Sans Bold"/>
              </a:rPr>
              <a:t>ongest Match: 12151527 </a:t>
            </a:r>
          </a:p>
          <a:p>
            <a:pPr algn="ctr">
              <a:lnSpc>
                <a:spcPts val="7279"/>
              </a:lnSpc>
              <a:spcBef>
                <a:spcPct val="0"/>
              </a:spcBef>
            </a:pPr>
            <a:r>
              <a:rPr lang="en-US" b="true" sz="5199">
                <a:solidFill>
                  <a:srgbClr val="000000"/>
                </a:solidFill>
                <a:latin typeface="Canva Sans Bold"/>
                <a:ea typeface="Canva Sans Bold"/>
                <a:cs typeface="Canva Sans Bold"/>
                <a:sym typeface="Canva Sans Bold"/>
              </a:rPr>
              <a:t>Duration: 0h 15m 31s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D4EDF4"/>
        </a:solidFill>
      </p:bgPr>
    </p:bg>
    <p:spTree>
      <p:nvGrpSpPr>
        <p:cNvPr id="1" name=""/>
        <p:cNvGrpSpPr/>
        <p:nvPr/>
      </p:nvGrpSpPr>
      <p:grpSpPr>
        <a:xfrm>
          <a:off x="0" y="0"/>
          <a:ext cx="0" cy="0"/>
          <a:chOff x="0" y="0"/>
          <a:chExt cx="0" cy="0"/>
        </a:xfrm>
      </p:grpSpPr>
      <p:sp>
        <p:nvSpPr>
          <p:cNvPr name="Freeform 2" id="2"/>
          <p:cNvSpPr/>
          <p:nvPr/>
        </p:nvSpPr>
        <p:spPr>
          <a:xfrm flipH="false" flipV="false" rot="0">
            <a:off x="1930225" y="649638"/>
            <a:ext cx="15329075" cy="9139961"/>
          </a:xfrm>
          <a:custGeom>
            <a:avLst/>
            <a:gdLst/>
            <a:ahLst/>
            <a:cxnLst/>
            <a:rect r="r" b="b" t="t" l="l"/>
            <a:pathLst>
              <a:path h="9139961" w="15329075">
                <a:moveTo>
                  <a:pt x="0" y="0"/>
                </a:moveTo>
                <a:lnTo>
                  <a:pt x="15329075" y="0"/>
                </a:lnTo>
                <a:lnTo>
                  <a:pt x="15329075" y="9139961"/>
                </a:lnTo>
                <a:lnTo>
                  <a:pt x="0" y="9139961"/>
                </a:lnTo>
                <a:lnTo>
                  <a:pt x="0" y="0"/>
                </a:lnTo>
                <a:close/>
              </a:path>
            </a:pathLst>
          </a:custGeom>
          <a:blipFill>
            <a:blip r:embed="rId2"/>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D4EDF4"/>
        </a:solidFill>
      </p:bgPr>
    </p:bg>
    <p:spTree>
      <p:nvGrpSpPr>
        <p:cNvPr id="1" name=""/>
        <p:cNvGrpSpPr/>
        <p:nvPr/>
      </p:nvGrpSpPr>
      <p:grpSpPr>
        <a:xfrm>
          <a:off x="0" y="0"/>
          <a:ext cx="0" cy="0"/>
          <a:chOff x="0" y="0"/>
          <a:chExt cx="0" cy="0"/>
        </a:xfrm>
      </p:grpSpPr>
      <p:sp>
        <p:nvSpPr>
          <p:cNvPr name="Freeform 2" id="2"/>
          <p:cNvSpPr/>
          <p:nvPr/>
        </p:nvSpPr>
        <p:spPr>
          <a:xfrm flipH="false" flipV="false" rot="0">
            <a:off x="3608143" y="225057"/>
            <a:ext cx="12296107" cy="9836886"/>
          </a:xfrm>
          <a:custGeom>
            <a:avLst/>
            <a:gdLst/>
            <a:ahLst/>
            <a:cxnLst/>
            <a:rect r="r" b="b" t="t" l="l"/>
            <a:pathLst>
              <a:path h="9836886" w="12296107">
                <a:moveTo>
                  <a:pt x="0" y="0"/>
                </a:moveTo>
                <a:lnTo>
                  <a:pt x="12296107" y="0"/>
                </a:lnTo>
                <a:lnTo>
                  <a:pt x="12296107" y="9836886"/>
                </a:lnTo>
                <a:lnTo>
                  <a:pt x="0" y="9836886"/>
                </a:lnTo>
                <a:lnTo>
                  <a:pt x="0" y="0"/>
                </a:lnTo>
                <a:close/>
              </a:path>
            </a:pathLst>
          </a:custGeom>
          <a:blipFill>
            <a:blip r:embed="rId2"/>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p:cSld>
    <p:bg>
      <p:bgPr>
        <a:solidFill>
          <a:srgbClr val="D4EDF4"/>
        </a:solidFill>
      </p:bgPr>
    </p:bg>
    <p:spTree>
      <p:nvGrpSpPr>
        <p:cNvPr id="1" name=""/>
        <p:cNvGrpSpPr/>
        <p:nvPr/>
      </p:nvGrpSpPr>
      <p:grpSpPr>
        <a:xfrm>
          <a:off x="0" y="0"/>
          <a:ext cx="0" cy="0"/>
          <a:chOff x="0" y="0"/>
          <a:chExt cx="0" cy="0"/>
        </a:xfrm>
      </p:grpSpPr>
      <p:sp>
        <p:nvSpPr>
          <p:cNvPr name="TextBox 2" id="2"/>
          <p:cNvSpPr txBox="true"/>
          <p:nvPr/>
        </p:nvSpPr>
        <p:spPr>
          <a:xfrm rot="0">
            <a:off x="985019" y="857250"/>
            <a:ext cx="6773168" cy="1566544"/>
          </a:xfrm>
          <a:prstGeom prst="rect">
            <a:avLst/>
          </a:prstGeom>
        </p:spPr>
        <p:txBody>
          <a:bodyPr anchor="t" rtlCol="false" tIns="0" lIns="0" bIns="0" rIns="0">
            <a:spAutoFit/>
          </a:bodyPr>
          <a:lstStyle/>
          <a:p>
            <a:pPr algn="ctr">
              <a:lnSpc>
                <a:spcPts val="12880"/>
              </a:lnSpc>
            </a:pPr>
            <a:r>
              <a:rPr lang="en-US" sz="9200" b="true">
                <a:solidFill>
                  <a:srgbClr val="000000"/>
                </a:solidFill>
                <a:latin typeface="Canva Sans Bold"/>
                <a:ea typeface="Canva Sans Bold"/>
                <a:cs typeface="Canva Sans Bold"/>
                <a:sym typeface="Canva Sans Bold"/>
              </a:rPr>
              <a:t>Question 5 :</a:t>
            </a:r>
          </a:p>
        </p:txBody>
      </p:sp>
      <p:sp>
        <p:nvSpPr>
          <p:cNvPr name="TextBox 3" id="3"/>
          <p:cNvSpPr txBox="true"/>
          <p:nvPr/>
        </p:nvSpPr>
        <p:spPr>
          <a:xfrm rot="0">
            <a:off x="1028700" y="5048250"/>
            <a:ext cx="16230600" cy="2734945"/>
          </a:xfrm>
          <a:prstGeom prst="rect">
            <a:avLst/>
          </a:prstGeom>
        </p:spPr>
        <p:txBody>
          <a:bodyPr anchor="t" rtlCol="false" tIns="0" lIns="0" bIns="0" rIns="0">
            <a:spAutoFit/>
          </a:bodyPr>
          <a:lstStyle/>
          <a:p>
            <a:pPr algn="l">
              <a:lnSpc>
                <a:spcPts val="7279"/>
              </a:lnSpc>
            </a:pPr>
            <a:r>
              <a:rPr lang="en-US" sz="5199" b="true">
                <a:solidFill>
                  <a:srgbClr val="000000"/>
                </a:solidFill>
                <a:latin typeface="Canva Sans Bold"/>
                <a:ea typeface="Canva Sans Bold"/>
                <a:cs typeface="Canva Sans Bold"/>
                <a:sym typeface="Canva Sans Bold"/>
              </a:rPr>
              <a:t>How m</a:t>
            </a:r>
            <a:r>
              <a:rPr lang="en-US" sz="5199" b="true">
                <a:solidFill>
                  <a:srgbClr val="000000"/>
                </a:solidFill>
                <a:latin typeface="Canva Sans Bold"/>
                <a:ea typeface="Canva Sans Bold"/>
                <a:cs typeface="Canva Sans Bold"/>
                <a:sym typeface="Canva Sans Bold"/>
              </a:rPr>
              <a:t>any sets are typically played in a tennis match?</a:t>
            </a:r>
          </a:p>
          <a:p>
            <a:pPr algn="l">
              <a:lnSpc>
                <a:spcPts val="7279"/>
              </a:lnSpc>
            </a:pPr>
          </a:p>
        </p:txBody>
      </p:sp>
    </p:spTree>
  </p:cSld>
  <p:clrMapOvr>
    <a:masterClrMapping/>
  </p:clrMapOvr>
</p:sld>
</file>

<file path=ppt/slides/slide22.xml><?xml version="1.0" encoding="utf-8"?>
<p:sld xmlns:p="http://schemas.openxmlformats.org/presentationml/2006/main" xmlns:a="http://schemas.openxmlformats.org/drawingml/2006/main">
  <p:cSld>
    <p:bg>
      <p:bgPr>
        <a:solidFill>
          <a:srgbClr val="D4EDF4"/>
        </a:solidFill>
      </p:bgPr>
    </p:bg>
    <p:spTree>
      <p:nvGrpSpPr>
        <p:cNvPr id="1" name=""/>
        <p:cNvGrpSpPr/>
        <p:nvPr/>
      </p:nvGrpSpPr>
      <p:grpSpPr>
        <a:xfrm>
          <a:off x="0" y="0"/>
          <a:ext cx="0" cy="0"/>
          <a:chOff x="0" y="0"/>
          <a:chExt cx="0" cy="0"/>
        </a:xfrm>
      </p:grpSpPr>
      <p:sp>
        <p:nvSpPr>
          <p:cNvPr name="TextBox 2" id="2"/>
          <p:cNvSpPr txBox="true"/>
          <p:nvPr/>
        </p:nvSpPr>
        <p:spPr>
          <a:xfrm rot="0">
            <a:off x="641152" y="4652327"/>
            <a:ext cx="17005697" cy="887095"/>
          </a:xfrm>
          <a:prstGeom prst="rect">
            <a:avLst/>
          </a:prstGeom>
        </p:spPr>
        <p:txBody>
          <a:bodyPr anchor="t" rtlCol="false" tIns="0" lIns="0" bIns="0" rIns="0">
            <a:spAutoFit/>
          </a:bodyPr>
          <a:lstStyle/>
          <a:p>
            <a:pPr algn="ctr">
              <a:lnSpc>
                <a:spcPts val="7279"/>
              </a:lnSpc>
              <a:spcBef>
                <a:spcPct val="0"/>
              </a:spcBef>
            </a:pPr>
            <a:r>
              <a:rPr lang="en-US" b="true" sz="5199">
                <a:solidFill>
                  <a:srgbClr val="000000"/>
                </a:solidFill>
                <a:latin typeface="Canva Sans Bold"/>
                <a:ea typeface="Canva Sans Bold"/>
                <a:cs typeface="Canva Sans Bold"/>
                <a:sym typeface="Canva Sans Bold"/>
              </a:rPr>
              <a:t>The</a:t>
            </a:r>
            <a:r>
              <a:rPr lang="en-US" b="true" sz="5199">
                <a:solidFill>
                  <a:srgbClr val="000000"/>
                </a:solidFill>
                <a:latin typeface="Canva Sans Bold"/>
                <a:ea typeface="Canva Sans Bold"/>
                <a:cs typeface="Canva Sans Bold"/>
                <a:sym typeface="Canva Sans Bold"/>
              </a:rPr>
              <a:t> average number of sets played per match is: 2.28</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D4EDF4"/>
        </a:solidFill>
      </p:bgPr>
    </p:bg>
    <p:spTree>
      <p:nvGrpSpPr>
        <p:cNvPr id="1" name=""/>
        <p:cNvGrpSpPr/>
        <p:nvPr/>
      </p:nvGrpSpPr>
      <p:grpSpPr>
        <a:xfrm>
          <a:off x="0" y="0"/>
          <a:ext cx="0" cy="0"/>
          <a:chOff x="0" y="0"/>
          <a:chExt cx="0" cy="0"/>
        </a:xfrm>
      </p:grpSpPr>
      <p:sp>
        <p:nvSpPr>
          <p:cNvPr name="Freeform 2" id="2"/>
          <p:cNvSpPr/>
          <p:nvPr/>
        </p:nvSpPr>
        <p:spPr>
          <a:xfrm flipH="false" flipV="false" rot="0">
            <a:off x="852941" y="168865"/>
            <a:ext cx="16582118" cy="9949271"/>
          </a:xfrm>
          <a:custGeom>
            <a:avLst/>
            <a:gdLst/>
            <a:ahLst/>
            <a:cxnLst/>
            <a:rect r="r" b="b" t="t" l="l"/>
            <a:pathLst>
              <a:path h="9949271" w="16582118">
                <a:moveTo>
                  <a:pt x="0" y="0"/>
                </a:moveTo>
                <a:lnTo>
                  <a:pt x="16582118" y="0"/>
                </a:lnTo>
                <a:lnTo>
                  <a:pt x="16582118" y="9949270"/>
                </a:lnTo>
                <a:lnTo>
                  <a:pt x="0" y="9949270"/>
                </a:lnTo>
                <a:lnTo>
                  <a:pt x="0" y="0"/>
                </a:lnTo>
                <a:close/>
              </a:path>
            </a:pathLst>
          </a:custGeom>
          <a:blipFill>
            <a:blip r:embed="rId2"/>
            <a:stretch>
              <a:fillRect l="0" t="0" r="0" b="0"/>
            </a:stretch>
          </a:blipFill>
        </p:spPr>
      </p:sp>
    </p:spTree>
  </p:cSld>
  <p:clrMapOvr>
    <a:masterClrMapping/>
  </p:clrMapOvr>
</p:sld>
</file>

<file path=ppt/slides/slide24.xml><?xml version="1.0" encoding="utf-8"?>
<p:sld xmlns:p="http://schemas.openxmlformats.org/presentationml/2006/main" xmlns:a="http://schemas.openxmlformats.org/drawingml/2006/main">
  <p:cSld>
    <p:bg>
      <p:bgPr>
        <a:solidFill>
          <a:srgbClr val="D4EDF4"/>
        </a:solidFill>
      </p:bgPr>
    </p:bg>
    <p:spTree>
      <p:nvGrpSpPr>
        <p:cNvPr id="1" name=""/>
        <p:cNvGrpSpPr/>
        <p:nvPr/>
      </p:nvGrpSpPr>
      <p:grpSpPr>
        <a:xfrm>
          <a:off x="0" y="0"/>
          <a:ext cx="0" cy="0"/>
          <a:chOff x="0" y="0"/>
          <a:chExt cx="0" cy="0"/>
        </a:xfrm>
      </p:grpSpPr>
      <p:sp>
        <p:nvSpPr>
          <p:cNvPr name="TextBox 2" id="2"/>
          <p:cNvSpPr txBox="true"/>
          <p:nvPr/>
        </p:nvSpPr>
        <p:spPr>
          <a:xfrm rot="0">
            <a:off x="5017829" y="3266440"/>
            <a:ext cx="8252341" cy="3658870"/>
          </a:xfrm>
          <a:prstGeom prst="rect">
            <a:avLst/>
          </a:prstGeom>
        </p:spPr>
        <p:txBody>
          <a:bodyPr anchor="t" rtlCol="false" tIns="0" lIns="0" bIns="0" rIns="0">
            <a:spAutoFit/>
          </a:bodyPr>
          <a:lstStyle/>
          <a:p>
            <a:pPr algn="ctr">
              <a:lnSpc>
                <a:spcPts val="7279"/>
              </a:lnSpc>
              <a:spcBef>
                <a:spcPct val="0"/>
              </a:spcBef>
            </a:pPr>
            <a:r>
              <a:rPr lang="en-US" b="true" sz="5199">
                <a:solidFill>
                  <a:srgbClr val="000000"/>
                </a:solidFill>
                <a:latin typeface="Canva Sans Bold"/>
                <a:ea typeface="Canva Sans Bold"/>
                <a:cs typeface="Canva Sans Bold"/>
                <a:sym typeface="Canva Sans Bold"/>
              </a:rPr>
              <a:t>winne</a:t>
            </a:r>
            <a:r>
              <a:rPr lang="en-US" b="true" sz="5199">
                <a:solidFill>
                  <a:srgbClr val="000000"/>
                </a:solidFill>
                <a:latin typeface="Canva Sans Bold"/>
                <a:ea typeface="Canva Sans Bold"/>
                <a:cs typeface="Canva Sans Bold"/>
                <a:sym typeface="Canva Sans Bold"/>
              </a:rPr>
              <a:t>r_plays </a:t>
            </a:r>
          </a:p>
          <a:p>
            <a:pPr algn="ctr">
              <a:lnSpc>
                <a:spcPts val="7279"/>
              </a:lnSpc>
              <a:spcBef>
                <a:spcPct val="0"/>
              </a:spcBef>
            </a:pPr>
            <a:r>
              <a:rPr lang="en-US" b="true" sz="5199">
                <a:solidFill>
                  <a:srgbClr val="000000"/>
                </a:solidFill>
                <a:latin typeface="Canva Sans Bold"/>
                <a:ea typeface="Canva Sans Bold"/>
                <a:cs typeface="Canva Sans Bold"/>
                <a:sym typeface="Canva Sans Bold"/>
              </a:rPr>
              <a:t>right-handed 87.744843% </a:t>
            </a:r>
          </a:p>
          <a:p>
            <a:pPr algn="ctr">
              <a:lnSpc>
                <a:spcPts val="7279"/>
              </a:lnSpc>
              <a:spcBef>
                <a:spcPct val="0"/>
              </a:spcBef>
            </a:pPr>
            <a:r>
              <a:rPr lang="en-US" b="true" sz="5199">
                <a:solidFill>
                  <a:srgbClr val="000000"/>
                </a:solidFill>
                <a:latin typeface="Canva Sans Bold"/>
                <a:ea typeface="Canva Sans Bold"/>
                <a:cs typeface="Canva Sans Bold"/>
                <a:sym typeface="Canva Sans Bold"/>
              </a:rPr>
              <a:t>left-handed 12.255157% </a:t>
            </a:r>
          </a:p>
          <a:p>
            <a:pPr algn="ctr">
              <a:lnSpc>
                <a:spcPts val="7279"/>
              </a:lnSpc>
              <a:spcBef>
                <a:spcPct val="0"/>
              </a:spcBef>
            </a:pP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D4EDF4"/>
        </a:solidFill>
      </p:bgPr>
    </p:bg>
    <p:spTree>
      <p:nvGrpSpPr>
        <p:cNvPr id="1" name=""/>
        <p:cNvGrpSpPr/>
        <p:nvPr/>
      </p:nvGrpSpPr>
      <p:grpSpPr>
        <a:xfrm>
          <a:off x="0" y="0"/>
          <a:ext cx="0" cy="0"/>
          <a:chOff x="0" y="0"/>
          <a:chExt cx="0" cy="0"/>
        </a:xfrm>
      </p:grpSpPr>
      <p:sp>
        <p:nvSpPr>
          <p:cNvPr name="Freeform 2" id="2"/>
          <p:cNvSpPr/>
          <p:nvPr/>
        </p:nvSpPr>
        <p:spPr>
          <a:xfrm flipH="false" flipV="false" rot="0">
            <a:off x="3292599" y="477733"/>
            <a:ext cx="11702802" cy="9331535"/>
          </a:xfrm>
          <a:custGeom>
            <a:avLst/>
            <a:gdLst/>
            <a:ahLst/>
            <a:cxnLst/>
            <a:rect r="r" b="b" t="t" l="l"/>
            <a:pathLst>
              <a:path h="9331535" w="11702802">
                <a:moveTo>
                  <a:pt x="0" y="0"/>
                </a:moveTo>
                <a:lnTo>
                  <a:pt x="11702802" y="0"/>
                </a:lnTo>
                <a:lnTo>
                  <a:pt x="11702802" y="9331534"/>
                </a:lnTo>
                <a:lnTo>
                  <a:pt x="0" y="9331534"/>
                </a:lnTo>
                <a:lnTo>
                  <a:pt x="0" y="0"/>
                </a:lnTo>
                <a:close/>
              </a:path>
            </a:pathLst>
          </a:custGeom>
          <a:blipFill>
            <a:blip r:embed="rId2"/>
            <a:stretch>
              <a:fillRect l="0" t="0" r="0" b="0"/>
            </a:stretch>
          </a:blipFill>
        </p:spPr>
      </p:sp>
    </p:spTree>
  </p:cSld>
  <p:clrMapOvr>
    <a:masterClrMapping/>
  </p:clrMapOvr>
</p:sld>
</file>

<file path=ppt/slides/slide26.xml><?xml version="1.0" encoding="utf-8"?>
<p:sld xmlns:p="http://schemas.openxmlformats.org/presentationml/2006/main" xmlns:a="http://schemas.openxmlformats.org/drawingml/2006/main">
  <p:cSld>
    <p:bg>
      <p:bgPr>
        <a:solidFill>
          <a:srgbClr val="D4EDF4"/>
        </a:solidFill>
      </p:bgPr>
    </p:bg>
    <p:spTree>
      <p:nvGrpSpPr>
        <p:cNvPr id="1" name=""/>
        <p:cNvGrpSpPr/>
        <p:nvPr/>
      </p:nvGrpSpPr>
      <p:grpSpPr>
        <a:xfrm>
          <a:off x="0" y="0"/>
          <a:ext cx="0" cy="0"/>
          <a:chOff x="0" y="0"/>
          <a:chExt cx="0" cy="0"/>
        </a:xfrm>
      </p:grpSpPr>
      <p:sp>
        <p:nvSpPr>
          <p:cNvPr name="TextBox 2" id="2"/>
          <p:cNvSpPr txBox="true"/>
          <p:nvPr/>
        </p:nvSpPr>
        <p:spPr>
          <a:xfrm rot="0">
            <a:off x="957635" y="857250"/>
            <a:ext cx="6827937" cy="1566544"/>
          </a:xfrm>
          <a:prstGeom prst="rect">
            <a:avLst/>
          </a:prstGeom>
        </p:spPr>
        <p:txBody>
          <a:bodyPr anchor="t" rtlCol="false" tIns="0" lIns="0" bIns="0" rIns="0">
            <a:spAutoFit/>
          </a:bodyPr>
          <a:lstStyle/>
          <a:p>
            <a:pPr algn="ctr">
              <a:lnSpc>
                <a:spcPts val="12880"/>
              </a:lnSpc>
            </a:pPr>
            <a:r>
              <a:rPr lang="en-US" sz="9200" b="true">
                <a:solidFill>
                  <a:srgbClr val="000000"/>
                </a:solidFill>
                <a:latin typeface="Canva Sans Bold"/>
                <a:ea typeface="Canva Sans Bold"/>
                <a:cs typeface="Canva Sans Bold"/>
                <a:sym typeface="Canva Sans Bold"/>
              </a:rPr>
              <a:t>Question 6 :</a:t>
            </a:r>
          </a:p>
        </p:txBody>
      </p:sp>
      <p:sp>
        <p:nvSpPr>
          <p:cNvPr name="TextBox 3" id="3"/>
          <p:cNvSpPr txBox="true"/>
          <p:nvPr/>
        </p:nvSpPr>
        <p:spPr>
          <a:xfrm rot="0">
            <a:off x="1028700" y="5048250"/>
            <a:ext cx="16230600" cy="2734945"/>
          </a:xfrm>
          <a:prstGeom prst="rect">
            <a:avLst/>
          </a:prstGeom>
        </p:spPr>
        <p:txBody>
          <a:bodyPr anchor="t" rtlCol="false" tIns="0" lIns="0" bIns="0" rIns="0">
            <a:spAutoFit/>
          </a:bodyPr>
          <a:lstStyle/>
          <a:p>
            <a:pPr algn="l">
              <a:lnSpc>
                <a:spcPts val="7279"/>
              </a:lnSpc>
            </a:pPr>
            <a:r>
              <a:rPr lang="en-US" sz="5199" b="true">
                <a:solidFill>
                  <a:srgbClr val="000000"/>
                </a:solidFill>
                <a:latin typeface="Canva Sans Bold"/>
                <a:ea typeface="Canva Sans Bold"/>
                <a:cs typeface="Canva Sans Bold"/>
                <a:sym typeface="Canva Sans Bold"/>
              </a:rPr>
              <a:t>Which cou</a:t>
            </a:r>
            <a:r>
              <a:rPr lang="en-US" sz="5199" b="true">
                <a:solidFill>
                  <a:srgbClr val="000000"/>
                </a:solidFill>
                <a:latin typeface="Canva Sans Bold"/>
                <a:ea typeface="Canva Sans Bold"/>
                <a:cs typeface="Canva Sans Bold"/>
                <a:sym typeface="Canva Sans Bold"/>
              </a:rPr>
              <a:t>ntry has produced the most successful tennis players?</a:t>
            </a:r>
          </a:p>
          <a:p>
            <a:pPr algn="l">
              <a:lnSpc>
                <a:spcPts val="7279"/>
              </a:lnSpc>
            </a:pPr>
          </a:p>
        </p:txBody>
      </p:sp>
    </p:spTree>
  </p:cSld>
  <p:clrMapOvr>
    <a:masterClrMapping/>
  </p:clrMapOvr>
</p:sld>
</file>

<file path=ppt/slides/slide27.xml><?xml version="1.0" encoding="utf-8"?>
<p:sld xmlns:p="http://schemas.openxmlformats.org/presentationml/2006/main" xmlns:a="http://schemas.openxmlformats.org/drawingml/2006/main">
  <p:cSld>
    <p:bg>
      <p:bgPr>
        <a:solidFill>
          <a:srgbClr val="D4EDF4"/>
        </a:solidFill>
      </p:bgPr>
    </p:bg>
    <p:spTree>
      <p:nvGrpSpPr>
        <p:cNvPr id="1" name=""/>
        <p:cNvGrpSpPr/>
        <p:nvPr/>
      </p:nvGrpSpPr>
      <p:grpSpPr>
        <a:xfrm>
          <a:off x="0" y="0"/>
          <a:ext cx="0" cy="0"/>
          <a:chOff x="0" y="0"/>
          <a:chExt cx="0" cy="0"/>
        </a:xfrm>
      </p:grpSpPr>
      <p:sp>
        <p:nvSpPr>
          <p:cNvPr name="TextBox 2" id="2"/>
          <p:cNvSpPr txBox="true"/>
          <p:nvPr/>
        </p:nvSpPr>
        <p:spPr>
          <a:xfrm rot="0">
            <a:off x="3364468" y="899796"/>
            <a:ext cx="11559064" cy="8358504"/>
          </a:xfrm>
          <a:prstGeom prst="rect">
            <a:avLst/>
          </a:prstGeom>
        </p:spPr>
        <p:txBody>
          <a:bodyPr anchor="t" rtlCol="false" tIns="0" lIns="0" bIns="0" rIns="0">
            <a:spAutoFit/>
          </a:bodyPr>
          <a:lstStyle/>
          <a:p>
            <a:pPr algn="ctr">
              <a:lnSpc>
                <a:spcPts val="6020"/>
              </a:lnSpc>
            </a:pPr>
            <a:r>
              <a:rPr lang="en-US" sz="4300" b="true">
                <a:solidFill>
                  <a:srgbClr val="000000"/>
                </a:solidFill>
                <a:latin typeface="Canva Sans Bold"/>
                <a:ea typeface="Canva Sans Bold"/>
                <a:cs typeface="Canva Sans Bold"/>
                <a:sym typeface="Canva Sans Bold"/>
              </a:rPr>
              <a:t>Top 10 countries by number of match wins: </a:t>
            </a:r>
          </a:p>
          <a:p>
            <a:pPr algn="ctr">
              <a:lnSpc>
                <a:spcPts val="6020"/>
              </a:lnSpc>
              <a:spcBef>
                <a:spcPct val="0"/>
              </a:spcBef>
            </a:pPr>
            <a:r>
              <a:rPr lang="en-US" b="true" sz="4300">
                <a:solidFill>
                  <a:srgbClr val="000000"/>
                </a:solidFill>
                <a:latin typeface="Canva Sans Bold"/>
                <a:ea typeface="Canva Sans Bold"/>
                <a:cs typeface="Canva Sans Bold"/>
                <a:sym typeface="Canva Sans Bold"/>
              </a:rPr>
              <a:t>France 992 </a:t>
            </a:r>
          </a:p>
          <a:p>
            <a:pPr algn="ctr">
              <a:lnSpc>
                <a:spcPts val="6020"/>
              </a:lnSpc>
              <a:spcBef>
                <a:spcPct val="0"/>
              </a:spcBef>
            </a:pPr>
            <a:r>
              <a:rPr lang="en-US" b="true" sz="4300">
                <a:solidFill>
                  <a:srgbClr val="000000"/>
                </a:solidFill>
                <a:latin typeface="Canva Sans Bold"/>
                <a:ea typeface="Canva Sans Bold"/>
                <a:cs typeface="Canva Sans Bold"/>
                <a:sym typeface="Canva Sans Bold"/>
              </a:rPr>
              <a:t>Italy 930 </a:t>
            </a:r>
          </a:p>
          <a:p>
            <a:pPr algn="ctr">
              <a:lnSpc>
                <a:spcPts val="6020"/>
              </a:lnSpc>
              <a:spcBef>
                <a:spcPct val="0"/>
              </a:spcBef>
            </a:pPr>
            <a:r>
              <a:rPr lang="en-US" b="true" sz="4300">
                <a:solidFill>
                  <a:srgbClr val="000000"/>
                </a:solidFill>
                <a:latin typeface="Canva Sans Bold"/>
                <a:ea typeface="Canva Sans Bold"/>
                <a:cs typeface="Canva Sans Bold"/>
                <a:sym typeface="Canva Sans Bold"/>
              </a:rPr>
              <a:t>USA 889 </a:t>
            </a:r>
          </a:p>
          <a:p>
            <a:pPr algn="ctr">
              <a:lnSpc>
                <a:spcPts val="6020"/>
              </a:lnSpc>
              <a:spcBef>
                <a:spcPct val="0"/>
              </a:spcBef>
            </a:pPr>
            <a:r>
              <a:rPr lang="en-US" b="true" sz="4300">
                <a:solidFill>
                  <a:srgbClr val="000000"/>
                </a:solidFill>
                <a:latin typeface="Canva Sans Bold"/>
                <a:ea typeface="Canva Sans Bold"/>
                <a:cs typeface="Canva Sans Bold"/>
                <a:sym typeface="Canva Sans Bold"/>
              </a:rPr>
              <a:t>Russia 621 </a:t>
            </a:r>
          </a:p>
          <a:p>
            <a:pPr algn="ctr">
              <a:lnSpc>
                <a:spcPts val="6020"/>
              </a:lnSpc>
              <a:spcBef>
                <a:spcPct val="0"/>
              </a:spcBef>
            </a:pPr>
            <a:r>
              <a:rPr lang="en-US" b="true" sz="4300">
                <a:solidFill>
                  <a:srgbClr val="000000"/>
                </a:solidFill>
                <a:latin typeface="Canva Sans Bold"/>
                <a:ea typeface="Canva Sans Bold"/>
                <a:cs typeface="Canva Sans Bold"/>
                <a:sym typeface="Canva Sans Bold"/>
              </a:rPr>
              <a:t>Germany 557 </a:t>
            </a:r>
          </a:p>
          <a:p>
            <a:pPr algn="ctr">
              <a:lnSpc>
                <a:spcPts val="6020"/>
              </a:lnSpc>
              <a:spcBef>
                <a:spcPct val="0"/>
              </a:spcBef>
            </a:pPr>
            <a:r>
              <a:rPr lang="en-US" b="true" sz="4300">
                <a:solidFill>
                  <a:srgbClr val="000000"/>
                </a:solidFill>
                <a:latin typeface="Canva Sans Bold"/>
                <a:ea typeface="Canva Sans Bold"/>
                <a:cs typeface="Canva Sans Bold"/>
                <a:sym typeface="Canva Sans Bold"/>
              </a:rPr>
              <a:t>Spain 540 </a:t>
            </a:r>
          </a:p>
          <a:p>
            <a:pPr algn="ctr">
              <a:lnSpc>
                <a:spcPts val="6020"/>
              </a:lnSpc>
              <a:spcBef>
                <a:spcPct val="0"/>
              </a:spcBef>
            </a:pPr>
            <a:r>
              <a:rPr lang="en-US" b="true" sz="4300">
                <a:solidFill>
                  <a:srgbClr val="000000"/>
                </a:solidFill>
                <a:latin typeface="Canva Sans Bold"/>
                <a:ea typeface="Canva Sans Bold"/>
                <a:cs typeface="Canva Sans Bold"/>
                <a:sym typeface="Canva Sans Bold"/>
              </a:rPr>
              <a:t>Argentina 509 </a:t>
            </a:r>
          </a:p>
          <a:p>
            <a:pPr algn="ctr">
              <a:lnSpc>
                <a:spcPts val="6020"/>
              </a:lnSpc>
              <a:spcBef>
                <a:spcPct val="0"/>
              </a:spcBef>
            </a:pPr>
            <a:r>
              <a:rPr lang="en-US" b="true" sz="4300">
                <a:solidFill>
                  <a:srgbClr val="000000"/>
                </a:solidFill>
                <a:latin typeface="Canva Sans Bold"/>
                <a:ea typeface="Canva Sans Bold"/>
                <a:cs typeface="Canva Sans Bold"/>
                <a:sym typeface="Canva Sans Bold"/>
              </a:rPr>
              <a:t>Japan 493 </a:t>
            </a:r>
          </a:p>
          <a:p>
            <a:pPr algn="ctr">
              <a:lnSpc>
                <a:spcPts val="6020"/>
              </a:lnSpc>
              <a:spcBef>
                <a:spcPct val="0"/>
              </a:spcBef>
            </a:pPr>
            <a:r>
              <a:rPr lang="en-US" b="true" sz="4300">
                <a:solidFill>
                  <a:srgbClr val="000000"/>
                </a:solidFill>
                <a:latin typeface="Canva Sans Bold"/>
                <a:ea typeface="Canva Sans Bold"/>
                <a:cs typeface="Canva Sans Bold"/>
                <a:sym typeface="Canva Sans Bold"/>
              </a:rPr>
              <a:t>Australia 430 </a:t>
            </a:r>
          </a:p>
          <a:p>
            <a:pPr algn="ctr">
              <a:lnSpc>
                <a:spcPts val="6020"/>
              </a:lnSpc>
              <a:spcBef>
                <a:spcPct val="0"/>
              </a:spcBef>
            </a:pPr>
            <a:r>
              <a:rPr lang="en-US" b="true" sz="4300">
                <a:solidFill>
                  <a:srgbClr val="000000"/>
                </a:solidFill>
                <a:latin typeface="Canva Sans Bold"/>
                <a:ea typeface="Canva Sans Bold"/>
                <a:cs typeface="Canva Sans Bold"/>
                <a:sym typeface="Canva Sans Bold"/>
              </a:rPr>
              <a:t>United Kingdom 355</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D4EDF4"/>
        </a:solidFill>
      </p:bgPr>
    </p:bg>
    <p:spTree>
      <p:nvGrpSpPr>
        <p:cNvPr id="1" name=""/>
        <p:cNvGrpSpPr/>
        <p:nvPr/>
      </p:nvGrpSpPr>
      <p:grpSpPr>
        <a:xfrm>
          <a:off x="0" y="0"/>
          <a:ext cx="0" cy="0"/>
          <a:chOff x="0" y="0"/>
          <a:chExt cx="0" cy="0"/>
        </a:xfrm>
      </p:grpSpPr>
      <p:sp>
        <p:nvSpPr>
          <p:cNvPr name="Freeform 2" id="2"/>
          <p:cNvSpPr/>
          <p:nvPr/>
        </p:nvSpPr>
        <p:spPr>
          <a:xfrm flipH="false" flipV="false" rot="0">
            <a:off x="2155901" y="487679"/>
            <a:ext cx="13976197" cy="9311641"/>
          </a:xfrm>
          <a:custGeom>
            <a:avLst/>
            <a:gdLst/>
            <a:ahLst/>
            <a:cxnLst/>
            <a:rect r="r" b="b" t="t" l="l"/>
            <a:pathLst>
              <a:path h="9311641" w="13976197">
                <a:moveTo>
                  <a:pt x="0" y="0"/>
                </a:moveTo>
                <a:lnTo>
                  <a:pt x="13976198" y="0"/>
                </a:lnTo>
                <a:lnTo>
                  <a:pt x="13976198" y="9311642"/>
                </a:lnTo>
                <a:lnTo>
                  <a:pt x="0" y="9311642"/>
                </a:lnTo>
                <a:lnTo>
                  <a:pt x="0" y="0"/>
                </a:lnTo>
                <a:close/>
              </a:path>
            </a:pathLst>
          </a:custGeom>
          <a:blipFill>
            <a:blip r:embed="rId2"/>
            <a:stretch>
              <a:fillRect l="0" t="0" r="0" b="0"/>
            </a:stretch>
          </a:blipFill>
        </p:spPr>
      </p:sp>
    </p:spTree>
  </p:cSld>
  <p:clrMapOvr>
    <a:masterClrMapping/>
  </p:clrMapOvr>
</p:sld>
</file>

<file path=ppt/slides/slide29.xml><?xml version="1.0" encoding="utf-8"?>
<p:sld xmlns:p="http://schemas.openxmlformats.org/presentationml/2006/main" xmlns:a="http://schemas.openxmlformats.org/drawingml/2006/main">
  <p:cSld>
    <p:bg>
      <p:bgPr>
        <a:solidFill>
          <a:srgbClr val="D4EDF4"/>
        </a:solidFill>
      </p:bgPr>
    </p:bg>
    <p:spTree>
      <p:nvGrpSpPr>
        <p:cNvPr id="1" name=""/>
        <p:cNvGrpSpPr/>
        <p:nvPr/>
      </p:nvGrpSpPr>
      <p:grpSpPr>
        <a:xfrm>
          <a:off x="0" y="0"/>
          <a:ext cx="0" cy="0"/>
          <a:chOff x="0" y="0"/>
          <a:chExt cx="0" cy="0"/>
        </a:xfrm>
      </p:grpSpPr>
      <p:sp>
        <p:nvSpPr>
          <p:cNvPr name="TextBox 2" id="2"/>
          <p:cNvSpPr txBox="true"/>
          <p:nvPr/>
        </p:nvSpPr>
        <p:spPr>
          <a:xfrm rot="0">
            <a:off x="1541979" y="1448435"/>
            <a:ext cx="15204043" cy="7313929"/>
          </a:xfrm>
          <a:prstGeom prst="rect">
            <a:avLst/>
          </a:prstGeom>
        </p:spPr>
        <p:txBody>
          <a:bodyPr anchor="t" rtlCol="false" tIns="0" lIns="0" bIns="0" rIns="0">
            <a:spAutoFit/>
          </a:bodyPr>
          <a:lstStyle/>
          <a:p>
            <a:pPr algn="ctr">
              <a:lnSpc>
                <a:spcPts val="5320"/>
              </a:lnSpc>
              <a:spcBef>
                <a:spcPct val="0"/>
              </a:spcBef>
            </a:pPr>
            <a:r>
              <a:rPr lang="en-US" b="true" sz="3800">
                <a:solidFill>
                  <a:srgbClr val="000000"/>
                </a:solidFill>
                <a:latin typeface="Canva Sans Bold"/>
                <a:ea typeface="Canva Sans Bold"/>
                <a:cs typeface="Canva Sans Bold"/>
                <a:sym typeface="Canva Sans Bold"/>
              </a:rPr>
              <a:t>Top 10 countries with the best (lowest) current ranks: </a:t>
            </a:r>
            <a:r>
              <a:rPr lang="en-US" b="true" sz="3800">
                <a:solidFill>
                  <a:srgbClr val="000000"/>
                </a:solidFill>
                <a:latin typeface="Canva Sans Bold"/>
                <a:ea typeface="Canva Sans Bold"/>
                <a:cs typeface="Canva Sans Bold"/>
                <a:sym typeface="Canva Sans Bold"/>
              </a:rPr>
              <a:t>Poland 1.0 </a:t>
            </a:r>
          </a:p>
          <a:p>
            <a:pPr algn="ctr">
              <a:lnSpc>
                <a:spcPts val="5320"/>
              </a:lnSpc>
              <a:spcBef>
                <a:spcPct val="0"/>
              </a:spcBef>
            </a:pPr>
            <a:r>
              <a:rPr lang="en-US" b="true" sz="3800">
                <a:solidFill>
                  <a:srgbClr val="000000"/>
                </a:solidFill>
                <a:latin typeface="Canva Sans Bold"/>
                <a:ea typeface="Canva Sans Bold"/>
                <a:cs typeface="Canva Sans Bold"/>
                <a:sym typeface="Canva Sans Bold"/>
              </a:rPr>
              <a:t>Serbia 1.0 </a:t>
            </a:r>
          </a:p>
          <a:p>
            <a:pPr algn="ctr">
              <a:lnSpc>
                <a:spcPts val="5320"/>
              </a:lnSpc>
              <a:spcBef>
                <a:spcPct val="0"/>
              </a:spcBef>
            </a:pPr>
            <a:r>
              <a:rPr lang="en-US" b="true" sz="3800">
                <a:solidFill>
                  <a:srgbClr val="000000"/>
                </a:solidFill>
                <a:latin typeface="Canva Sans Bold"/>
                <a:ea typeface="Canva Sans Bold"/>
                <a:cs typeface="Canva Sans Bold"/>
                <a:sym typeface="Canva Sans Bold"/>
              </a:rPr>
              <a:t>Belarus 2.0 </a:t>
            </a:r>
          </a:p>
          <a:p>
            <a:pPr algn="ctr">
              <a:lnSpc>
                <a:spcPts val="5320"/>
              </a:lnSpc>
              <a:spcBef>
                <a:spcPct val="0"/>
              </a:spcBef>
            </a:pPr>
            <a:r>
              <a:rPr lang="en-US" b="true" sz="3800">
                <a:solidFill>
                  <a:srgbClr val="000000"/>
                </a:solidFill>
                <a:latin typeface="Canva Sans Bold"/>
                <a:ea typeface="Canva Sans Bold"/>
                <a:cs typeface="Canva Sans Bold"/>
                <a:sym typeface="Canva Sans Bold"/>
              </a:rPr>
              <a:t>Italy 2.0 </a:t>
            </a:r>
          </a:p>
          <a:p>
            <a:pPr algn="ctr">
              <a:lnSpc>
                <a:spcPts val="5320"/>
              </a:lnSpc>
              <a:spcBef>
                <a:spcPct val="0"/>
              </a:spcBef>
            </a:pPr>
            <a:r>
              <a:rPr lang="en-US" b="true" sz="3800">
                <a:solidFill>
                  <a:srgbClr val="000000"/>
                </a:solidFill>
                <a:latin typeface="Canva Sans Bold"/>
                <a:ea typeface="Canva Sans Bold"/>
                <a:cs typeface="Canva Sans Bold"/>
                <a:sym typeface="Canva Sans Bold"/>
              </a:rPr>
              <a:t>Spain 2.0 </a:t>
            </a:r>
          </a:p>
          <a:p>
            <a:pPr algn="ctr">
              <a:lnSpc>
                <a:spcPts val="5320"/>
              </a:lnSpc>
              <a:spcBef>
                <a:spcPct val="0"/>
              </a:spcBef>
            </a:pPr>
            <a:r>
              <a:rPr lang="en-US" b="true" sz="3800">
                <a:solidFill>
                  <a:srgbClr val="000000"/>
                </a:solidFill>
                <a:latin typeface="Canva Sans Bold"/>
                <a:ea typeface="Canva Sans Bold"/>
                <a:cs typeface="Canva Sans Bold"/>
                <a:sym typeface="Canva Sans Bold"/>
              </a:rPr>
              <a:t>USA 3.0 </a:t>
            </a:r>
          </a:p>
          <a:p>
            <a:pPr algn="ctr">
              <a:lnSpc>
                <a:spcPts val="5320"/>
              </a:lnSpc>
              <a:spcBef>
                <a:spcPct val="0"/>
              </a:spcBef>
            </a:pPr>
            <a:r>
              <a:rPr lang="en-US" b="true" sz="3800">
                <a:solidFill>
                  <a:srgbClr val="000000"/>
                </a:solidFill>
                <a:latin typeface="Canva Sans Bold"/>
                <a:ea typeface="Canva Sans Bold"/>
                <a:cs typeface="Canva Sans Bold"/>
                <a:sym typeface="Canva Sans Bold"/>
              </a:rPr>
              <a:t>Germany 4.0 </a:t>
            </a:r>
          </a:p>
          <a:p>
            <a:pPr algn="ctr">
              <a:lnSpc>
                <a:spcPts val="5320"/>
              </a:lnSpc>
              <a:spcBef>
                <a:spcPct val="0"/>
              </a:spcBef>
            </a:pPr>
            <a:r>
              <a:rPr lang="en-US" b="true" sz="3800">
                <a:solidFill>
                  <a:srgbClr val="000000"/>
                </a:solidFill>
                <a:latin typeface="Canva Sans Bold"/>
                <a:ea typeface="Canva Sans Bold"/>
                <a:cs typeface="Canva Sans Bold"/>
                <a:sym typeface="Canva Sans Bold"/>
              </a:rPr>
              <a:t>Kazakhstan 4.0 </a:t>
            </a:r>
          </a:p>
          <a:p>
            <a:pPr algn="ctr">
              <a:lnSpc>
                <a:spcPts val="5320"/>
              </a:lnSpc>
              <a:spcBef>
                <a:spcPct val="0"/>
              </a:spcBef>
            </a:pPr>
            <a:r>
              <a:rPr lang="en-US" b="true" sz="3800">
                <a:solidFill>
                  <a:srgbClr val="000000"/>
                </a:solidFill>
                <a:latin typeface="Canva Sans Bold"/>
                <a:ea typeface="Canva Sans Bold"/>
                <a:cs typeface="Canva Sans Bold"/>
                <a:sym typeface="Canva Sans Bold"/>
              </a:rPr>
              <a:t>Russia 4.0 </a:t>
            </a:r>
          </a:p>
          <a:p>
            <a:pPr algn="ctr">
              <a:lnSpc>
                <a:spcPts val="5320"/>
              </a:lnSpc>
              <a:spcBef>
                <a:spcPct val="0"/>
              </a:spcBef>
            </a:pPr>
            <a:r>
              <a:rPr lang="en-US" b="true" sz="3800">
                <a:solidFill>
                  <a:srgbClr val="000000"/>
                </a:solidFill>
                <a:latin typeface="Canva Sans Bold"/>
                <a:ea typeface="Canva Sans Bold"/>
                <a:cs typeface="Canva Sans Bold"/>
                <a:sym typeface="Canva Sans Bold"/>
              </a:rPr>
              <a:t>Czech Republic 6.0 </a:t>
            </a:r>
          </a:p>
          <a:p>
            <a:pPr algn="ctr">
              <a:lnSpc>
                <a:spcPts val="5320"/>
              </a:lnSpc>
              <a:spcBef>
                <a:spcPct val="0"/>
              </a:spcBef>
            </a:pP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D4EDF4"/>
        </a:solidFill>
      </p:bgPr>
    </p:bg>
    <p:spTree>
      <p:nvGrpSpPr>
        <p:cNvPr id="1" name=""/>
        <p:cNvGrpSpPr/>
        <p:nvPr/>
      </p:nvGrpSpPr>
      <p:grpSpPr>
        <a:xfrm>
          <a:off x="0" y="0"/>
          <a:ext cx="0" cy="0"/>
          <a:chOff x="0" y="0"/>
          <a:chExt cx="0" cy="0"/>
        </a:xfrm>
      </p:grpSpPr>
      <p:sp>
        <p:nvSpPr>
          <p:cNvPr name="Freeform 2" id="2"/>
          <p:cNvSpPr/>
          <p:nvPr/>
        </p:nvSpPr>
        <p:spPr>
          <a:xfrm flipH="false" flipV="false" rot="0">
            <a:off x="2091021" y="444453"/>
            <a:ext cx="14105958" cy="9398095"/>
          </a:xfrm>
          <a:custGeom>
            <a:avLst/>
            <a:gdLst/>
            <a:ahLst/>
            <a:cxnLst/>
            <a:rect r="r" b="b" t="t" l="l"/>
            <a:pathLst>
              <a:path h="9398095" w="14105958">
                <a:moveTo>
                  <a:pt x="0" y="0"/>
                </a:moveTo>
                <a:lnTo>
                  <a:pt x="14105958" y="0"/>
                </a:lnTo>
                <a:lnTo>
                  <a:pt x="14105958" y="9398094"/>
                </a:lnTo>
                <a:lnTo>
                  <a:pt x="0" y="9398094"/>
                </a:lnTo>
                <a:lnTo>
                  <a:pt x="0" y="0"/>
                </a:lnTo>
                <a:close/>
              </a:path>
            </a:pathLst>
          </a:custGeom>
          <a:blipFill>
            <a:blip r:embed="rId2"/>
            <a:stretch>
              <a:fillRect l="0" t="0" r="0" b="0"/>
            </a:stretch>
          </a:blipFill>
        </p:spPr>
      </p:sp>
    </p:spTree>
  </p:cSld>
  <p:clrMapOvr>
    <a:masterClrMapping/>
  </p:clrMapOvr>
</p:sld>
</file>

<file path=ppt/slides/slide31.xml><?xml version="1.0" encoding="utf-8"?>
<p:sld xmlns:p="http://schemas.openxmlformats.org/presentationml/2006/main" xmlns:a="http://schemas.openxmlformats.org/drawingml/2006/main">
  <p:cSld>
    <p:bg>
      <p:bgPr>
        <a:solidFill>
          <a:srgbClr val="D4EDF4"/>
        </a:solidFill>
      </p:bgPr>
    </p:bg>
    <p:spTree>
      <p:nvGrpSpPr>
        <p:cNvPr id="1" name=""/>
        <p:cNvGrpSpPr/>
        <p:nvPr/>
      </p:nvGrpSpPr>
      <p:grpSpPr>
        <a:xfrm>
          <a:off x="0" y="0"/>
          <a:ext cx="0" cy="0"/>
          <a:chOff x="0" y="0"/>
          <a:chExt cx="0" cy="0"/>
        </a:xfrm>
      </p:grpSpPr>
      <p:sp>
        <p:nvSpPr>
          <p:cNvPr name="TextBox 2" id="2"/>
          <p:cNvSpPr txBox="true"/>
          <p:nvPr/>
        </p:nvSpPr>
        <p:spPr>
          <a:xfrm rot="0">
            <a:off x="1040681" y="857250"/>
            <a:ext cx="6661845" cy="1566544"/>
          </a:xfrm>
          <a:prstGeom prst="rect">
            <a:avLst/>
          </a:prstGeom>
        </p:spPr>
        <p:txBody>
          <a:bodyPr anchor="t" rtlCol="false" tIns="0" lIns="0" bIns="0" rIns="0">
            <a:spAutoFit/>
          </a:bodyPr>
          <a:lstStyle/>
          <a:p>
            <a:pPr algn="ctr">
              <a:lnSpc>
                <a:spcPts val="12880"/>
              </a:lnSpc>
            </a:pPr>
            <a:r>
              <a:rPr lang="en-US" sz="9200" b="true">
                <a:solidFill>
                  <a:srgbClr val="000000"/>
                </a:solidFill>
                <a:latin typeface="Canva Sans Bold"/>
                <a:ea typeface="Canva Sans Bold"/>
                <a:cs typeface="Canva Sans Bold"/>
                <a:sym typeface="Canva Sans Bold"/>
              </a:rPr>
              <a:t>Question 7 :</a:t>
            </a:r>
          </a:p>
        </p:txBody>
      </p:sp>
      <p:sp>
        <p:nvSpPr>
          <p:cNvPr name="TextBox 3" id="3"/>
          <p:cNvSpPr txBox="true"/>
          <p:nvPr/>
        </p:nvSpPr>
        <p:spPr>
          <a:xfrm rot="0">
            <a:off x="1028700" y="5048250"/>
            <a:ext cx="16230600" cy="1811020"/>
          </a:xfrm>
          <a:prstGeom prst="rect">
            <a:avLst/>
          </a:prstGeom>
        </p:spPr>
        <p:txBody>
          <a:bodyPr anchor="t" rtlCol="false" tIns="0" lIns="0" bIns="0" rIns="0">
            <a:spAutoFit/>
          </a:bodyPr>
          <a:lstStyle/>
          <a:p>
            <a:pPr algn="l">
              <a:lnSpc>
                <a:spcPts val="7279"/>
              </a:lnSpc>
            </a:pPr>
            <a:r>
              <a:rPr lang="en-US" sz="5199" b="true">
                <a:solidFill>
                  <a:srgbClr val="000000"/>
                </a:solidFill>
                <a:latin typeface="Canva Sans Bold"/>
                <a:ea typeface="Canva Sans Bold"/>
                <a:cs typeface="Canva Sans Bold"/>
                <a:sym typeface="Canva Sans Bold"/>
              </a:rPr>
              <a:t>What is </a:t>
            </a:r>
            <a:r>
              <a:rPr lang="en-US" sz="5199" b="true">
                <a:solidFill>
                  <a:srgbClr val="000000"/>
                </a:solidFill>
                <a:latin typeface="Canva Sans Bold"/>
                <a:ea typeface="Canva Sans Bold"/>
                <a:cs typeface="Canva Sans Bold"/>
                <a:sym typeface="Canva Sans Bold"/>
              </a:rPr>
              <a:t>the average number of aces per match?</a:t>
            </a:r>
          </a:p>
          <a:p>
            <a:pPr algn="l">
              <a:lnSpc>
                <a:spcPts val="7279"/>
              </a:lnSpc>
            </a:pPr>
          </a:p>
        </p:txBody>
      </p:sp>
    </p:spTree>
  </p:cSld>
  <p:clrMapOvr>
    <a:masterClrMapping/>
  </p:clrMapOvr>
</p:sld>
</file>

<file path=ppt/slides/slide32.xml><?xml version="1.0" encoding="utf-8"?>
<p:sld xmlns:p="http://schemas.openxmlformats.org/presentationml/2006/main" xmlns:a="http://schemas.openxmlformats.org/drawingml/2006/main">
  <p:cSld>
    <p:bg>
      <p:bgPr>
        <a:solidFill>
          <a:srgbClr val="D4EDF4"/>
        </a:solidFill>
      </p:bgPr>
    </p:bg>
    <p:spTree>
      <p:nvGrpSpPr>
        <p:cNvPr id="1" name=""/>
        <p:cNvGrpSpPr/>
        <p:nvPr/>
      </p:nvGrpSpPr>
      <p:grpSpPr>
        <a:xfrm>
          <a:off x="0" y="0"/>
          <a:ext cx="0" cy="0"/>
          <a:chOff x="0" y="0"/>
          <a:chExt cx="0" cy="0"/>
        </a:xfrm>
      </p:grpSpPr>
      <p:sp>
        <p:nvSpPr>
          <p:cNvPr name="TextBox 2" id="2"/>
          <p:cNvSpPr txBox="true"/>
          <p:nvPr/>
        </p:nvSpPr>
        <p:spPr>
          <a:xfrm rot="0">
            <a:off x="2711232" y="4652327"/>
            <a:ext cx="12865537" cy="887095"/>
          </a:xfrm>
          <a:prstGeom prst="rect">
            <a:avLst/>
          </a:prstGeom>
        </p:spPr>
        <p:txBody>
          <a:bodyPr anchor="t" rtlCol="false" tIns="0" lIns="0" bIns="0" rIns="0">
            <a:spAutoFit/>
          </a:bodyPr>
          <a:lstStyle/>
          <a:p>
            <a:pPr algn="ctr">
              <a:lnSpc>
                <a:spcPts val="7279"/>
              </a:lnSpc>
              <a:spcBef>
                <a:spcPct val="0"/>
              </a:spcBef>
            </a:pPr>
            <a:r>
              <a:rPr lang="en-US" b="true" sz="5199">
                <a:solidFill>
                  <a:srgbClr val="000000"/>
                </a:solidFill>
                <a:latin typeface="Canva Sans Bold"/>
                <a:ea typeface="Canva Sans Bold"/>
                <a:cs typeface="Canva Sans Bold"/>
                <a:sym typeface="Canva Sans Bold"/>
              </a:rPr>
              <a:t>Average n</a:t>
            </a:r>
            <a:r>
              <a:rPr lang="en-US" b="true" sz="5199">
                <a:solidFill>
                  <a:srgbClr val="000000"/>
                </a:solidFill>
                <a:latin typeface="Canva Sans Bold"/>
                <a:ea typeface="Canva Sans Bold"/>
                <a:cs typeface="Canva Sans Bold"/>
                <a:sym typeface="Canva Sans Bold"/>
              </a:rPr>
              <a:t>umber of aces per match: 3.43</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D4EDF4"/>
        </a:solidFill>
      </p:bgPr>
    </p:bg>
    <p:spTree>
      <p:nvGrpSpPr>
        <p:cNvPr id="1" name=""/>
        <p:cNvGrpSpPr/>
        <p:nvPr/>
      </p:nvGrpSpPr>
      <p:grpSpPr>
        <a:xfrm>
          <a:off x="0" y="0"/>
          <a:ext cx="0" cy="0"/>
          <a:chOff x="0" y="0"/>
          <a:chExt cx="0" cy="0"/>
        </a:xfrm>
      </p:grpSpPr>
      <p:sp>
        <p:nvSpPr>
          <p:cNvPr name="Freeform 2" id="2"/>
          <p:cNvSpPr/>
          <p:nvPr/>
        </p:nvSpPr>
        <p:spPr>
          <a:xfrm flipH="false" flipV="false" rot="0">
            <a:off x="1790208" y="547380"/>
            <a:ext cx="14707583" cy="9192240"/>
          </a:xfrm>
          <a:custGeom>
            <a:avLst/>
            <a:gdLst/>
            <a:ahLst/>
            <a:cxnLst/>
            <a:rect r="r" b="b" t="t" l="l"/>
            <a:pathLst>
              <a:path h="9192240" w="14707583">
                <a:moveTo>
                  <a:pt x="0" y="0"/>
                </a:moveTo>
                <a:lnTo>
                  <a:pt x="14707584" y="0"/>
                </a:lnTo>
                <a:lnTo>
                  <a:pt x="14707584" y="9192240"/>
                </a:lnTo>
                <a:lnTo>
                  <a:pt x="0" y="9192240"/>
                </a:lnTo>
                <a:lnTo>
                  <a:pt x="0" y="0"/>
                </a:lnTo>
                <a:close/>
              </a:path>
            </a:pathLst>
          </a:custGeom>
          <a:blipFill>
            <a:blip r:embed="rId2"/>
            <a:stretch>
              <a:fillRect l="0" t="0" r="0" b="0"/>
            </a:stretch>
          </a:blipFill>
        </p:spPr>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D4EDF4"/>
        </a:solidFill>
      </p:bgPr>
    </p:bg>
    <p:spTree>
      <p:nvGrpSpPr>
        <p:cNvPr id="1" name=""/>
        <p:cNvGrpSpPr/>
        <p:nvPr/>
      </p:nvGrpSpPr>
      <p:grpSpPr>
        <a:xfrm>
          <a:off x="0" y="0"/>
          <a:ext cx="0" cy="0"/>
          <a:chOff x="0" y="0"/>
          <a:chExt cx="0" cy="0"/>
        </a:xfrm>
      </p:grpSpPr>
      <p:sp>
        <p:nvSpPr>
          <p:cNvPr name="Freeform 2" id="2"/>
          <p:cNvSpPr/>
          <p:nvPr/>
        </p:nvSpPr>
        <p:spPr>
          <a:xfrm flipH="false" flipV="false" rot="0">
            <a:off x="1268317" y="418090"/>
            <a:ext cx="15751366" cy="9450820"/>
          </a:xfrm>
          <a:custGeom>
            <a:avLst/>
            <a:gdLst/>
            <a:ahLst/>
            <a:cxnLst/>
            <a:rect r="r" b="b" t="t" l="l"/>
            <a:pathLst>
              <a:path h="9450820" w="15751366">
                <a:moveTo>
                  <a:pt x="0" y="0"/>
                </a:moveTo>
                <a:lnTo>
                  <a:pt x="15751366" y="0"/>
                </a:lnTo>
                <a:lnTo>
                  <a:pt x="15751366" y="9450820"/>
                </a:lnTo>
                <a:lnTo>
                  <a:pt x="0" y="9450820"/>
                </a:lnTo>
                <a:lnTo>
                  <a:pt x="0" y="0"/>
                </a:lnTo>
                <a:close/>
              </a:path>
            </a:pathLst>
          </a:custGeom>
          <a:blipFill>
            <a:blip r:embed="rId2"/>
            <a:stretch>
              <a:fillRect l="0" t="0" r="0" b="0"/>
            </a:stretch>
          </a:blipFill>
        </p:spPr>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D4EDF4"/>
        </a:solidFill>
      </p:bgPr>
    </p:bg>
    <p:spTree>
      <p:nvGrpSpPr>
        <p:cNvPr id="1" name=""/>
        <p:cNvGrpSpPr/>
        <p:nvPr/>
      </p:nvGrpSpPr>
      <p:grpSpPr>
        <a:xfrm>
          <a:off x="0" y="0"/>
          <a:ext cx="0" cy="0"/>
          <a:chOff x="0" y="0"/>
          <a:chExt cx="0" cy="0"/>
        </a:xfrm>
      </p:grpSpPr>
      <p:sp>
        <p:nvSpPr>
          <p:cNvPr name="Freeform 2" id="2"/>
          <p:cNvSpPr/>
          <p:nvPr/>
        </p:nvSpPr>
        <p:spPr>
          <a:xfrm flipH="false" flipV="false" rot="0">
            <a:off x="2017843" y="894529"/>
            <a:ext cx="14252314" cy="8497942"/>
          </a:xfrm>
          <a:custGeom>
            <a:avLst/>
            <a:gdLst/>
            <a:ahLst/>
            <a:cxnLst/>
            <a:rect r="r" b="b" t="t" l="l"/>
            <a:pathLst>
              <a:path h="8497942" w="14252314">
                <a:moveTo>
                  <a:pt x="0" y="0"/>
                </a:moveTo>
                <a:lnTo>
                  <a:pt x="14252314" y="0"/>
                </a:lnTo>
                <a:lnTo>
                  <a:pt x="14252314" y="8497942"/>
                </a:lnTo>
                <a:lnTo>
                  <a:pt x="0" y="8497942"/>
                </a:lnTo>
                <a:lnTo>
                  <a:pt x="0" y="0"/>
                </a:lnTo>
                <a:close/>
              </a:path>
            </a:pathLst>
          </a:custGeom>
          <a:blipFill>
            <a:blip r:embed="rId2"/>
            <a:stretch>
              <a:fillRect l="0" t="0" r="0" b="0"/>
            </a:stretch>
          </a:blipFill>
        </p:spPr>
      </p:sp>
    </p:spTree>
  </p:cSld>
  <p:clrMapOvr>
    <a:masterClrMapping/>
  </p:clrMapOvr>
</p:sld>
</file>

<file path=ppt/slides/slide36.xml><?xml version="1.0" encoding="utf-8"?>
<p:sld xmlns:p="http://schemas.openxmlformats.org/presentationml/2006/main" xmlns:a="http://schemas.openxmlformats.org/drawingml/2006/main">
  <p:cSld>
    <p:bg>
      <p:bgPr>
        <a:solidFill>
          <a:srgbClr val="D4EDF4"/>
        </a:solidFill>
      </p:bgPr>
    </p:bg>
    <p:spTree>
      <p:nvGrpSpPr>
        <p:cNvPr id="1" name=""/>
        <p:cNvGrpSpPr/>
        <p:nvPr/>
      </p:nvGrpSpPr>
      <p:grpSpPr>
        <a:xfrm>
          <a:off x="0" y="0"/>
          <a:ext cx="0" cy="0"/>
          <a:chOff x="0" y="0"/>
          <a:chExt cx="0" cy="0"/>
        </a:xfrm>
      </p:grpSpPr>
      <p:sp>
        <p:nvSpPr>
          <p:cNvPr name="TextBox 2" id="2"/>
          <p:cNvSpPr txBox="true"/>
          <p:nvPr/>
        </p:nvSpPr>
        <p:spPr>
          <a:xfrm rot="0">
            <a:off x="978768" y="857250"/>
            <a:ext cx="6785670" cy="1566544"/>
          </a:xfrm>
          <a:prstGeom prst="rect">
            <a:avLst/>
          </a:prstGeom>
        </p:spPr>
        <p:txBody>
          <a:bodyPr anchor="t" rtlCol="false" tIns="0" lIns="0" bIns="0" rIns="0">
            <a:spAutoFit/>
          </a:bodyPr>
          <a:lstStyle/>
          <a:p>
            <a:pPr algn="ctr">
              <a:lnSpc>
                <a:spcPts val="12880"/>
              </a:lnSpc>
            </a:pPr>
            <a:r>
              <a:rPr lang="en-US" sz="9200" b="true">
                <a:solidFill>
                  <a:srgbClr val="000000"/>
                </a:solidFill>
                <a:latin typeface="Canva Sans Bold"/>
                <a:ea typeface="Canva Sans Bold"/>
                <a:cs typeface="Canva Sans Bold"/>
                <a:sym typeface="Canva Sans Bold"/>
              </a:rPr>
              <a:t>Question 8 :</a:t>
            </a:r>
          </a:p>
        </p:txBody>
      </p:sp>
      <p:sp>
        <p:nvSpPr>
          <p:cNvPr name="TextBox 3" id="3"/>
          <p:cNvSpPr txBox="true"/>
          <p:nvPr/>
        </p:nvSpPr>
        <p:spPr>
          <a:xfrm rot="0">
            <a:off x="1028700" y="5048250"/>
            <a:ext cx="16230600" cy="2734945"/>
          </a:xfrm>
          <a:prstGeom prst="rect">
            <a:avLst/>
          </a:prstGeom>
        </p:spPr>
        <p:txBody>
          <a:bodyPr anchor="t" rtlCol="false" tIns="0" lIns="0" bIns="0" rIns="0">
            <a:spAutoFit/>
          </a:bodyPr>
          <a:lstStyle/>
          <a:p>
            <a:pPr algn="l">
              <a:lnSpc>
                <a:spcPts val="7279"/>
              </a:lnSpc>
            </a:pPr>
            <a:r>
              <a:rPr lang="en-US" sz="5199" b="true">
                <a:solidFill>
                  <a:srgbClr val="000000"/>
                </a:solidFill>
                <a:latin typeface="Canva Sans Bold"/>
                <a:ea typeface="Canva Sans Bold"/>
                <a:cs typeface="Canva Sans Bold"/>
                <a:sym typeface="Canva Sans Bold"/>
              </a:rPr>
              <a:t>Is </a:t>
            </a:r>
            <a:r>
              <a:rPr lang="en-US" sz="5199" b="true">
                <a:solidFill>
                  <a:srgbClr val="000000"/>
                </a:solidFill>
                <a:latin typeface="Canva Sans Bold"/>
                <a:ea typeface="Canva Sans Bold"/>
                <a:cs typeface="Canva Sans Bold"/>
                <a:sym typeface="Canva Sans Bold"/>
              </a:rPr>
              <a:t>there a difference in the number of double faults based on gender?</a:t>
            </a:r>
          </a:p>
          <a:p>
            <a:pPr algn="l">
              <a:lnSpc>
                <a:spcPts val="7279"/>
              </a:lnSpc>
            </a:pPr>
          </a:p>
        </p:txBody>
      </p:sp>
    </p:spTree>
  </p:cSld>
  <p:clrMapOvr>
    <a:masterClrMapping/>
  </p:clrMapOvr>
</p:sld>
</file>

<file path=ppt/slides/slide37.xml><?xml version="1.0" encoding="utf-8"?>
<p:sld xmlns:p="http://schemas.openxmlformats.org/presentationml/2006/main" xmlns:a="http://schemas.openxmlformats.org/drawingml/2006/main">
  <p:cSld>
    <p:bg>
      <p:bgPr>
        <a:solidFill>
          <a:srgbClr val="D4EDF4"/>
        </a:solidFill>
      </p:bgPr>
    </p:bg>
    <p:spTree>
      <p:nvGrpSpPr>
        <p:cNvPr id="1" name=""/>
        <p:cNvGrpSpPr/>
        <p:nvPr/>
      </p:nvGrpSpPr>
      <p:grpSpPr>
        <a:xfrm>
          <a:off x="0" y="0"/>
          <a:ext cx="0" cy="0"/>
          <a:chOff x="0" y="0"/>
          <a:chExt cx="0" cy="0"/>
        </a:xfrm>
      </p:grpSpPr>
      <p:sp>
        <p:nvSpPr>
          <p:cNvPr name="TextBox 2" id="2"/>
          <p:cNvSpPr txBox="true"/>
          <p:nvPr/>
        </p:nvSpPr>
        <p:spPr>
          <a:xfrm rot="0">
            <a:off x="0" y="4652327"/>
            <a:ext cx="18015109" cy="3658870"/>
          </a:xfrm>
          <a:prstGeom prst="rect">
            <a:avLst/>
          </a:prstGeom>
        </p:spPr>
        <p:txBody>
          <a:bodyPr anchor="t" rtlCol="false" tIns="0" lIns="0" bIns="0" rIns="0">
            <a:spAutoFit/>
          </a:bodyPr>
          <a:lstStyle/>
          <a:p>
            <a:pPr algn="l">
              <a:lnSpc>
                <a:spcPts val="7279"/>
              </a:lnSpc>
              <a:spcBef>
                <a:spcPct val="0"/>
              </a:spcBef>
            </a:pPr>
            <a:r>
              <a:rPr lang="en-US" b="true" sz="5199">
                <a:solidFill>
                  <a:srgbClr val="000000"/>
                </a:solidFill>
                <a:latin typeface="Canva Sans Bold"/>
                <a:ea typeface="Canva Sans Bold"/>
                <a:cs typeface="Canva Sans Bold"/>
                <a:sym typeface="Canva Sans Bold"/>
              </a:rPr>
              <a:t> Desc</a:t>
            </a:r>
            <a:r>
              <a:rPr lang="en-US" b="true" sz="5199">
                <a:solidFill>
                  <a:srgbClr val="000000"/>
                </a:solidFill>
                <a:latin typeface="Canva Sans Bold"/>
                <a:ea typeface="Canva Sans Bold"/>
                <a:cs typeface="Canva Sans Bold"/>
                <a:sym typeface="Canva Sans Bold"/>
              </a:rPr>
              <a:t>riptive Statistics by Gender </a:t>
            </a:r>
          </a:p>
          <a:p>
            <a:pPr algn="l">
              <a:lnSpc>
                <a:spcPts val="7279"/>
              </a:lnSpc>
              <a:spcBef>
                <a:spcPct val="0"/>
              </a:spcBef>
            </a:pPr>
            <a:r>
              <a:rPr lang="en-US" b="true" sz="5199">
                <a:solidFill>
                  <a:srgbClr val="000000"/>
                </a:solidFill>
                <a:latin typeface="Canva Sans Bold"/>
                <a:ea typeface="Canva Sans Bold"/>
                <a:cs typeface="Canva Sans Bold"/>
                <a:sym typeface="Canva Sans Bold"/>
              </a:rPr>
              <a:t>      count       mean           std              min 25% 50% 75% max </a:t>
            </a:r>
          </a:p>
          <a:p>
            <a:pPr algn="l">
              <a:lnSpc>
                <a:spcPts val="7279"/>
              </a:lnSpc>
              <a:spcBef>
                <a:spcPct val="0"/>
              </a:spcBef>
            </a:pPr>
            <a:r>
              <a:rPr lang="en-US" b="true" sz="5199">
                <a:solidFill>
                  <a:srgbClr val="000000"/>
                </a:solidFill>
                <a:latin typeface="Canva Sans Bold"/>
                <a:ea typeface="Canva Sans Bold"/>
                <a:cs typeface="Canva Sans Bold"/>
                <a:sym typeface="Canva Sans Bold"/>
              </a:rPr>
              <a:t>F   30950.0   2.107981   2.249022   0.0  0.0   2.0   3.0   28.0 </a:t>
            </a:r>
          </a:p>
          <a:p>
            <a:pPr algn="l">
              <a:lnSpc>
                <a:spcPts val="7279"/>
              </a:lnSpc>
              <a:spcBef>
                <a:spcPct val="0"/>
              </a:spcBef>
            </a:pPr>
            <a:r>
              <a:rPr lang="en-US" b="true" sz="5199">
                <a:solidFill>
                  <a:srgbClr val="000000"/>
                </a:solidFill>
                <a:latin typeface="Canva Sans Bold"/>
                <a:ea typeface="Canva Sans Bold"/>
                <a:cs typeface="Canva Sans Bold"/>
                <a:sym typeface="Canva Sans Bold"/>
              </a:rPr>
              <a:t>M  40166.0   1.599064  1.801070   0.0  0.0  1.0   2.0   21.0</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bg>
      <p:bgPr>
        <a:solidFill>
          <a:srgbClr val="D4EDF4"/>
        </a:solidFill>
      </p:bgPr>
    </p:bg>
    <p:spTree>
      <p:nvGrpSpPr>
        <p:cNvPr id="1" name=""/>
        <p:cNvGrpSpPr/>
        <p:nvPr/>
      </p:nvGrpSpPr>
      <p:grpSpPr>
        <a:xfrm>
          <a:off x="0" y="0"/>
          <a:ext cx="0" cy="0"/>
          <a:chOff x="0" y="0"/>
          <a:chExt cx="0" cy="0"/>
        </a:xfrm>
      </p:grpSpPr>
      <p:sp>
        <p:nvSpPr>
          <p:cNvPr name="Freeform 2" id="2"/>
          <p:cNvSpPr/>
          <p:nvPr/>
        </p:nvSpPr>
        <p:spPr>
          <a:xfrm flipH="false" flipV="false" rot="0">
            <a:off x="2203640" y="285248"/>
            <a:ext cx="13880721" cy="9716504"/>
          </a:xfrm>
          <a:custGeom>
            <a:avLst/>
            <a:gdLst/>
            <a:ahLst/>
            <a:cxnLst/>
            <a:rect r="r" b="b" t="t" l="l"/>
            <a:pathLst>
              <a:path h="9716504" w="13880721">
                <a:moveTo>
                  <a:pt x="0" y="0"/>
                </a:moveTo>
                <a:lnTo>
                  <a:pt x="13880720" y="0"/>
                </a:lnTo>
                <a:lnTo>
                  <a:pt x="13880720" y="9716504"/>
                </a:lnTo>
                <a:lnTo>
                  <a:pt x="0" y="9716504"/>
                </a:lnTo>
                <a:lnTo>
                  <a:pt x="0" y="0"/>
                </a:lnTo>
                <a:close/>
              </a:path>
            </a:pathLst>
          </a:custGeom>
          <a:blipFill>
            <a:blip r:embed="rId2"/>
            <a:stretch>
              <a:fillRect l="0" t="0" r="0" b="0"/>
            </a:stretch>
          </a:blipFill>
        </p:spPr>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bg>
      <p:bgPr>
        <a:solidFill>
          <a:srgbClr val="D4EDF4"/>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16451185" cy="8143336"/>
          </a:xfrm>
          <a:custGeom>
            <a:avLst/>
            <a:gdLst/>
            <a:ahLst/>
            <a:cxnLst/>
            <a:rect r="r" b="b" t="t" l="l"/>
            <a:pathLst>
              <a:path h="8143336" w="16451185">
                <a:moveTo>
                  <a:pt x="0" y="0"/>
                </a:moveTo>
                <a:lnTo>
                  <a:pt x="16451185" y="0"/>
                </a:lnTo>
                <a:lnTo>
                  <a:pt x="16451185" y="8143336"/>
                </a:lnTo>
                <a:lnTo>
                  <a:pt x="0" y="8143336"/>
                </a:lnTo>
                <a:lnTo>
                  <a:pt x="0" y="0"/>
                </a:lnTo>
                <a:close/>
              </a:path>
            </a:pathLst>
          </a:custGeom>
          <a:blipFill>
            <a:blip r:embed="rId2"/>
            <a:stretch>
              <a:fillRect l="0" t="0" r="0" b="0"/>
            </a:stretch>
          </a:blipFill>
        </p:spPr>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bg>
      <p:bgPr>
        <a:solidFill>
          <a:srgbClr val="D4EDF4"/>
        </a:solidFill>
      </p:bgPr>
    </p:bg>
    <p:spTree>
      <p:nvGrpSpPr>
        <p:cNvPr id="1" name=""/>
        <p:cNvGrpSpPr/>
        <p:nvPr/>
      </p:nvGrpSpPr>
      <p:grpSpPr>
        <a:xfrm>
          <a:off x="0" y="0"/>
          <a:ext cx="0" cy="0"/>
          <a:chOff x="0" y="0"/>
          <a:chExt cx="0" cy="0"/>
        </a:xfrm>
      </p:grpSpPr>
      <p:sp>
        <p:nvSpPr>
          <p:cNvPr name="Freeform 2" id="2"/>
          <p:cNvSpPr/>
          <p:nvPr/>
        </p:nvSpPr>
        <p:spPr>
          <a:xfrm flipH="false" flipV="false" rot="0">
            <a:off x="567805" y="855402"/>
            <a:ext cx="17152390" cy="8576195"/>
          </a:xfrm>
          <a:custGeom>
            <a:avLst/>
            <a:gdLst/>
            <a:ahLst/>
            <a:cxnLst/>
            <a:rect r="r" b="b" t="t" l="l"/>
            <a:pathLst>
              <a:path h="8576195" w="17152390">
                <a:moveTo>
                  <a:pt x="0" y="0"/>
                </a:moveTo>
                <a:lnTo>
                  <a:pt x="17152390" y="0"/>
                </a:lnTo>
                <a:lnTo>
                  <a:pt x="17152390" y="8576196"/>
                </a:lnTo>
                <a:lnTo>
                  <a:pt x="0" y="8576196"/>
                </a:lnTo>
                <a:lnTo>
                  <a:pt x="0" y="0"/>
                </a:lnTo>
                <a:close/>
              </a:path>
            </a:pathLst>
          </a:custGeom>
          <a:blipFill>
            <a:blip r:embed="rId2"/>
            <a:stretch>
              <a:fillRect l="0" t="0" r="0" b="0"/>
            </a:stretch>
          </a:blipFill>
        </p:spPr>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bg>
      <p:bgPr>
        <a:solidFill>
          <a:srgbClr val="D4EDF4"/>
        </a:solidFill>
      </p:bgPr>
    </p:bg>
    <p:spTree>
      <p:nvGrpSpPr>
        <p:cNvPr id="1" name=""/>
        <p:cNvGrpSpPr/>
        <p:nvPr/>
      </p:nvGrpSpPr>
      <p:grpSpPr>
        <a:xfrm>
          <a:off x="0" y="0"/>
          <a:ext cx="0" cy="0"/>
          <a:chOff x="0" y="0"/>
          <a:chExt cx="0" cy="0"/>
        </a:xfrm>
      </p:grpSpPr>
      <p:sp>
        <p:nvSpPr>
          <p:cNvPr name="Freeform 2" id="2"/>
          <p:cNvSpPr/>
          <p:nvPr/>
        </p:nvSpPr>
        <p:spPr>
          <a:xfrm flipH="false" flipV="false" rot="0">
            <a:off x="573838" y="901270"/>
            <a:ext cx="17140323" cy="8484460"/>
          </a:xfrm>
          <a:custGeom>
            <a:avLst/>
            <a:gdLst/>
            <a:ahLst/>
            <a:cxnLst/>
            <a:rect r="r" b="b" t="t" l="l"/>
            <a:pathLst>
              <a:path h="8484460" w="17140323">
                <a:moveTo>
                  <a:pt x="0" y="0"/>
                </a:moveTo>
                <a:lnTo>
                  <a:pt x="17140324" y="0"/>
                </a:lnTo>
                <a:lnTo>
                  <a:pt x="17140324" y="8484460"/>
                </a:lnTo>
                <a:lnTo>
                  <a:pt x="0" y="8484460"/>
                </a:lnTo>
                <a:lnTo>
                  <a:pt x="0" y="0"/>
                </a:lnTo>
                <a:close/>
              </a:path>
            </a:pathLst>
          </a:custGeom>
          <a:blipFill>
            <a:blip r:embed="rId2"/>
            <a:stretch>
              <a:fillRect l="0" t="0" r="0" b="0"/>
            </a:stretch>
          </a:blipFill>
        </p:spPr>
      </p:sp>
    </p:spTree>
  </p:cSld>
  <p:clrMapOvr>
    <a:masterClrMapping/>
  </p:clrMapOvr>
</p:sld>
</file>

<file path=ppt/slides/slide42.xml><?xml version="1.0" encoding="utf-8"?>
<p:sld xmlns:p="http://schemas.openxmlformats.org/presentationml/2006/main" xmlns:a="http://schemas.openxmlformats.org/drawingml/2006/main">
  <p:cSld>
    <p:bg>
      <p:bgPr>
        <a:solidFill>
          <a:srgbClr val="D4EDF4"/>
        </a:solidFill>
      </p:bgPr>
    </p:bg>
    <p:spTree>
      <p:nvGrpSpPr>
        <p:cNvPr id="1" name=""/>
        <p:cNvGrpSpPr/>
        <p:nvPr/>
      </p:nvGrpSpPr>
      <p:grpSpPr>
        <a:xfrm>
          <a:off x="0" y="0"/>
          <a:ext cx="0" cy="0"/>
          <a:chOff x="0" y="0"/>
          <a:chExt cx="0" cy="0"/>
        </a:xfrm>
      </p:grpSpPr>
      <p:sp>
        <p:nvSpPr>
          <p:cNvPr name="TextBox 2" id="2"/>
          <p:cNvSpPr txBox="true"/>
          <p:nvPr/>
        </p:nvSpPr>
        <p:spPr>
          <a:xfrm rot="0">
            <a:off x="959346" y="857250"/>
            <a:ext cx="6824514" cy="1566544"/>
          </a:xfrm>
          <a:prstGeom prst="rect">
            <a:avLst/>
          </a:prstGeom>
        </p:spPr>
        <p:txBody>
          <a:bodyPr anchor="t" rtlCol="false" tIns="0" lIns="0" bIns="0" rIns="0">
            <a:spAutoFit/>
          </a:bodyPr>
          <a:lstStyle/>
          <a:p>
            <a:pPr algn="ctr">
              <a:lnSpc>
                <a:spcPts val="12880"/>
              </a:lnSpc>
            </a:pPr>
            <a:r>
              <a:rPr lang="en-US" sz="9200" b="true">
                <a:solidFill>
                  <a:srgbClr val="000000"/>
                </a:solidFill>
                <a:latin typeface="Canva Sans Bold"/>
                <a:ea typeface="Canva Sans Bold"/>
                <a:cs typeface="Canva Sans Bold"/>
                <a:sym typeface="Canva Sans Bold"/>
              </a:rPr>
              <a:t>Question 9 :</a:t>
            </a:r>
          </a:p>
        </p:txBody>
      </p:sp>
      <p:sp>
        <p:nvSpPr>
          <p:cNvPr name="TextBox 3" id="3"/>
          <p:cNvSpPr txBox="true"/>
          <p:nvPr/>
        </p:nvSpPr>
        <p:spPr>
          <a:xfrm rot="0">
            <a:off x="1028700" y="5048250"/>
            <a:ext cx="16230600" cy="2734945"/>
          </a:xfrm>
          <a:prstGeom prst="rect">
            <a:avLst/>
          </a:prstGeom>
        </p:spPr>
        <p:txBody>
          <a:bodyPr anchor="t" rtlCol="false" tIns="0" lIns="0" bIns="0" rIns="0">
            <a:spAutoFit/>
          </a:bodyPr>
          <a:lstStyle/>
          <a:p>
            <a:pPr algn="l">
              <a:lnSpc>
                <a:spcPts val="7279"/>
              </a:lnSpc>
            </a:pPr>
            <a:r>
              <a:rPr lang="en-US" sz="5199" b="true">
                <a:solidFill>
                  <a:srgbClr val="000000"/>
                </a:solidFill>
                <a:latin typeface="Canva Sans Bold"/>
                <a:ea typeface="Canva Sans Bold"/>
                <a:cs typeface="Canva Sans Bold"/>
                <a:sym typeface="Canva Sans Bold"/>
              </a:rPr>
              <a:t>Which play</a:t>
            </a:r>
            <a:r>
              <a:rPr lang="en-US" sz="5199" b="true">
                <a:solidFill>
                  <a:srgbClr val="000000"/>
                </a:solidFill>
                <a:latin typeface="Canva Sans Bold"/>
                <a:ea typeface="Canva Sans Bold"/>
                <a:cs typeface="Canva Sans Bold"/>
                <a:sym typeface="Canva Sans Bold"/>
              </a:rPr>
              <a:t>er has won the most tournaments in a single month?</a:t>
            </a:r>
          </a:p>
          <a:p>
            <a:pPr algn="l">
              <a:lnSpc>
                <a:spcPts val="7279"/>
              </a:lnSpc>
            </a:pPr>
          </a:p>
        </p:txBody>
      </p:sp>
    </p:spTree>
  </p:cSld>
  <p:clrMapOvr>
    <a:masterClrMapping/>
  </p:clrMapOvr>
</p:sld>
</file>

<file path=ppt/slides/slide43.xml><?xml version="1.0" encoding="utf-8"?>
<p:sld xmlns:p="http://schemas.openxmlformats.org/presentationml/2006/main" xmlns:a="http://schemas.openxmlformats.org/drawingml/2006/main">
  <p:cSld>
    <p:bg>
      <p:bgPr>
        <a:solidFill>
          <a:srgbClr val="D4EDF4"/>
        </a:solidFill>
      </p:bgPr>
    </p:bg>
    <p:spTree>
      <p:nvGrpSpPr>
        <p:cNvPr id="1" name=""/>
        <p:cNvGrpSpPr/>
        <p:nvPr/>
      </p:nvGrpSpPr>
      <p:grpSpPr>
        <a:xfrm>
          <a:off x="0" y="0"/>
          <a:ext cx="0" cy="0"/>
          <a:chOff x="0" y="0"/>
          <a:chExt cx="0" cy="0"/>
        </a:xfrm>
      </p:grpSpPr>
      <p:sp>
        <p:nvSpPr>
          <p:cNvPr name="TextBox 2" id="2"/>
          <p:cNvSpPr txBox="true"/>
          <p:nvPr/>
        </p:nvSpPr>
        <p:spPr>
          <a:xfrm rot="0">
            <a:off x="0" y="4652327"/>
            <a:ext cx="18288000" cy="3658870"/>
          </a:xfrm>
          <a:prstGeom prst="rect">
            <a:avLst/>
          </a:prstGeom>
        </p:spPr>
        <p:txBody>
          <a:bodyPr anchor="t" rtlCol="false" tIns="0" lIns="0" bIns="0" rIns="0">
            <a:spAutoFit/>
          </a:bodyPr>
          <a:lstStyle/>
          <a:p>
            <a:pPr algn="ctr">
              <a:lnSpc>
                <a:spcPts val="7279"/>
              </a:lnSpc>
              <a:spcBef>
                <a:spcPct val="0"/>
              </a:spcBef>
            </a:pPr>
            <a:r>
              <a:rPr lang="en-US" b="true" sz="5199">
                <a:solidFill>
                  <a:srgbClr val="000000"/>
                </a:solidFill>
                <a:latin typeface="Canva Sans Bold"/>
                <a:ea typeface="Canva Sans Bold"/>
                <a:cs typeface="Canva Sans Bold"/>
                <a:sym typeface="Canva Sans Bold"/>
              </a:rPr>
              <a:t>Player with most t</a:t>
            </a:r>
            <a:r>
              <a:rPr lang="en-US" b="true" sz="5199">
                <a:solidFill>
                  <a:srgbClr val="000000"/>
                </a:solidFill>
                <a:latin typeface="Canva Sans Bold"/>
                <a:ea typeface="Canva Sans Bold"/>
                <a:cs typeface="Canva Sans Bold"/>
                <a:sym typeface="Canva Sans Bold"/>
              </a:rPr>
              <a:t>ournament wins in a single month: winner Chidekh C.</a:t>
            </a:r>
          </a:p>
          <a:p>
            <a:pPr algn="ctr">
              <a:lnSpc>
                <a:spcPts val="7279"/>
              </a:lnSpc>
              <a:spcBef>
                <a:spcPct val="0"/>
              </a:spcBef>
            </a:pPr>
            <a:r>
              <a:rPr lang="en-US" b="true" sz="5199">
                <a:solidFill>
                  <a:srgbClr val="000000"/>
                </a:solidFill>
                <a:latin typeface="Canva Sans Bold"/>
                <a:ea typeface="Canva Sans Bold"/>
                <a:cs typeface="Canva Sans Bold"/>
                <a:sym typeface="Canva Sans Bold"/>
              </a:rPr>
              <a:t> month 1970-01 </a:t>
            </a:r>
          </a:p>
          <a:p>
            <a:pPr algn="ctr">
              <a:lnSpc>
                <a:spcPts val="7279"/>
              </a:lnSpc>
              <a:spcBef>
                <a:spcPct val="0"/>
              </a:spcBef>
            </a:pPr>
            <a:r>
              <a:rPr lang="en-US" b="true" sz="5199">
                <a:solidFill>
                  <a:srgbClr val="000000"/>
                </a:solidFill>
                <a:latin typeface="Canva Sans Bold"/>
                <a:ea typeface="Canva Sans Bold"/>
                <a:cs typeface="Canva Sans Bold"/>
                <a:sym typeface="Canva Sans Bold"/>
              </a:rPr>
              <a:t>tournament_wins 3</a:t>
            </a: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bg>
      <p:bgPr>
        <a:solidFill>
          <a:srgbClr val="D4EDF4"/>
        </a:solidFill>
      </p:bgPr>
    </p:bg>
    <p:spTree>
      <p:nvGrpSpPr>
        <p:cNvPr id="1" name=""/>
        <p:cNvGrpSpPr/>
        <p:nvPr/>
      </p:nvGrpSpPr>
      <p:grpSpPr>
        <a:xfrm>
          <a:off x="0" y="0"/>
          <a:ext cx="0" cy="0"/>
          <a:chOff x="0" y="0"/>
          <a:chExt cx="0" cy="0"/>
        </a:xfrm>
      </p:grpSpPr>
      <p:sp>
        <p:nvSpPr>
          <p:cNvPr name="Freeform 2" id="2"/>
          <p:cNvSpPr/>
          <p:nvPr/>
        </p:nvSpPr>
        <p:spPr>
          <a:xfrm flipH="false" flipV="false" rot="0">
            <a:off x="1052259" y="318800"/>
            <a:ext cx="16183482" cy="9649401"/>
          </a:xfrm>
          <a:custGeom>
            <a:avLst/>
            <a:gdLst/>
            <a:ahLst/>
            <a:cxnLst/>
            <a:rect r="r" b="b" t="t" l="l"/>
            <a:pathLst>
              <a:path h="9649401" w="16183482">
                <a:moveTo>
                  <a:pt x="0" y="0"/>
                </a:moveTo>
                <a:lnTo>
                  <a:pt x="16183482" y="0"/>
                </a:lnTo>
                <a:lnTo>
                  <a:pt x="16183482" y="9649400"/>
                </a:lnTo>
                <a:lnTo>
                  <a:pt x="0" y="9649400"/>
                </a:lnTo>
                <a:lnTo>
                  <a:pt x="0" y="0"/>
                </a:lnTo>
                <a:close/>
              </a:path>
            </a:pathLst>
          </a:custGeom>
          <a:blipFill>
            <a:blip r:embed="rId2"/>
            <a:stretch>
              <a:fillRect l="0" t="0" r="0" b="0"/>
            </a:stretch>
          </a:blipFill>
        </p:spPr>
      </p:sp>
    </p:spTree>
  </p:cSld>
  <p:clrMapOvr>
    <a:masterClrMapping/>
  </p:clrMapOvr>
</p:sld>
</file>

<file path=ppt/slides/slide45.xml><?xml version="1.0" encoding="utf-8"?>
<p:sld xmlns:p="http://schemas.openxmlformats.org/presentationml/2006/main" xmlns:a="http://schemas.openxmlformats.org/drawingml/2006/main">
  <p:cSld>
    <p:bg>
      <p:bgPr>
        <a:solidFill>
          <a:srgbClr val="D4EDF4"/>
        </a:solidFill>
      </p:bgPr>
    </p:bg>
    <p:spTree>
      <p:nvGrpSpPr>
        <p:cNvPr id="1" name=""/>
        <p:cNvGrpSpPr/>
        <p:nvPr/>
      </p:nvGrpSpPr>
      <p:grpSpPr>
        <a:xfrm>
          <a:off x="0" y="0"/>
          <a:ext cx="0" cy="0"/>
          <a:chOff x="0" y="0"/>
          <a:chExt cx="0" cy="0"/>
        </a:xfrm>
      </p:grpSpPr>
      <p:sp>
        <p:nvSpPr>
          <p:cNvPr name="TextBox 2" id="2"/>
          <p:cNvSpPr txBox="true"/>
          <p:nvPr/>
        </p:nvSpPr>
        <p:spPr>
          <a:xfrm rot="0">
            <a:off x="631924" y="857250"/>
            <a:ext cx="7479357" cy="1566544"/>
          </a:xfrm>
          <a:prstGeom prst="rect">
            <a:avLst/>
          </a:prstGeom>
        </p:spPr>
        <p:txBody>
          <a:bodyPr anchor="t" rtlCol="false" tIns="0" lIns="0" bIns="0" rIns="0">
            <a:spAutoFit/>
          </a:bodyPr>
          <a:lstStyle/>
          <a:p>
            <a:pPr algn="ctr">
              <a:lnSpc>
                <a:spcPts val="12880"/>
              </a:lnSpc>
            </a:pPr>
            <a:r>
              <a:rPr lang="en-US" sz="9200" b="true">
                <a:solidFill>
                  <a:srgbClr val="000000"/>
                </a:solidFill>
                <a:latin typeface="Canva Sans Bold"/>
                <a:ea typeface="Canva Sans Bold"/>
                <a:cs typeface="Canva Sans Bold"/>
                <a:sym typeface="Canva Sans Bold"/>
              </a:rPr>
              <a:t>Question 10 :</a:t>
            </a:r>
          </a:p>
        </p:txBody>
      </p:sp>
      <p:sp>
        <p:nvSpPr>
          <p:cNvPr name="TextBox 3" id="3"/>
          <p:cNvSpPr txBox="true"/>
          <p:nvPr/>
        </p:nvSpPr>
        <p:spPr>
          <a:xfrm rot="0">
            <a:off x="1028700" y="5048250"/>
            <a:ext cx="16230600" cy="2734945"/>
          </a:xfrm>
          <a:prstGeom prst="rect">
            <a:avLst/>
          </a:prstGeom>
        </p:spPr>
        <p:txBody>
          <a:bodyPr anchor="t" rtlCol="false" tIns="0" lIns="0" bIns="0" rIns="0">
            <a:spAutoFit/>
          </a:bodyPr>
          <a:lstStyle/>
          <a:p>
            <a:pPr algn="l">
              <a:lnSpc>
                <a:spcPts val="7279"/>
              </a:lnSpc>
            </a:pPr>
            <a:r>
              <a:rPr lang="en-US" sz="5199" b="true">
                <a:solidFill>
                  <a:srgbClr val="000000"/>
                </a:solidFill>
                <a:latin typeface="Canva Sans Bold"/>
                <a:ea typeface="Canva Sans Bold"/>
                <a:cs typeface="Canva Sans Bold"/>
                <a:sym typeface="Canva Sans Bold"/>
              </a:rPr>
              <a:t>Is there a correlation between a play</a:t>
            </a:r>
            <a:r>
              <a:rPr lang="en-US" sz="5199" b="true">
                <a:solidFill>
                  <a:srgbClr val="000000"/>
                </a:solidFill>
                <a:latin typeface="Canva Sans Bold"/>
                <a:ea typeface="Canva Sans Bold"/>
                <a:cs typeface="Canva Sans Bold"/>
                <a:sym typeface="Canva Sans Bold"/>
              </a:rPr>
              <a:t>er's height and their ranking?</a:t>
            </a:r>
          </a:p>
          <a:p>
            <a:pPr algn="l">
              <a:lnSpc>
                <a:spcPts val="7279"/>
              </a:lnSpc>
            </a:pPr>
          </a:p>
        </p:txBody>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bg>
      <p:bgPr>
        <a:solidFill>
          <a:srgbClr val="D4EDF4"/>
        </a:solidFill>
      </p:bgPr>
    </p:bg>
    <p:spTree>
      <p:nvGrpSpPr>
        <p:cNvPr id="1" name=""/>
        <p:cNvGrpSpPr/>
        <p:nvPr/>
      </p:nvGrpSpPr>
      <p:grpSpPr>
        <a:xfrm>
          <a:off x="0" y="0"/>
          <a:ext cx="0" cy="0"/>
          <a:chOff x="0" y="0"/>
          <a:chExt cx="0" cy="0"/>
        </a:xfrm>
      </p:grpSpPr>
      <p:sp>
        <p:nvSpPr>
          <p:cNvPr name="Freeform 2" id="2"/>
          <p:cNvSpPr/>
          <p:nvPr/>
        </p:nvSpPr>
        <p:spPr>
          <a:xfrm flipH="false" flipV="false" rot="0">
            <a:off x="2626148" y="269567"/>
            <a:ext cx="13035704" cy="9747865"/>
          </a:xfrm>
          <a:custGeom>
            <a:avLst/>
            <a:gdLst/>
            <a:ahLst/>
            <a:cxnLst/>
            <a:rect r="r" b="b" t="t" l="l"/>
            <a:pathLst>
              <a:path h="9747865" w="13035704">
                <a:moveTo>
                  <a:pt x="0" y="0"/>
                </a:moveTo>
                <a:lnTo>
                  <a:pt x="13035704" y="0"/>
                </a:lnTo>
                <a:lnTo>
                  <a:pt x="13035704" y="9747866"/>
                </a:lnTo>
                <a:lnTo>
                  <a:pt x="0" y="9747866"/>
                </a:lnTo>
                <a:lnTo>
                  <a:pt x="0" y="0"/>
                </a:lnTo>
                <a:close/>
              </a:path>
            </a:pathLst>
          </a:custGeom>
          <a:blipFill>
            <a:blip r:embed="rId2"/>
            <a:stretch>
              <a:fillRect l="0" t="0" r="0" b="0"/>
            </a:stretch>
          </a:blipFill>
        </p:spPr>
      </p:sp>
    </p:spTree>
  </p:cSld>
  <p:clrMapOvr>
    <a:masterClrMapping/>
  </p:clrMapOvr>
</p:sld>
</file>

<file path=ppt/slides/slide47.xml><?xml version="1.0" encoding="utf-8"?>
<p:sld xmlns:p="http://schemas.openxmlformats.org/presentationml/2006/main" xmlns:a="http://schemas.openxmlformats.org/drawingml/2006/main">
  <p:cSld>
    <p:bg>
      <p:bgPr>
        <a:solidFill>
          <a:srgbClr val="D4EDF4"/>
        </a:solidFill>
      </p:bgPr>
    </p:bg>
    <p:spTree>
      <p:nvGrpSpPr>
        <p:cNvPr id="1" name=""/>
        <p:cNvGrpSpPr/>
        <p:nvPr/>
      </p:nvGrpSpPr>
      <p:grpSpPr>
        <a:xfrm>
          <a:off x="0" y="0"/>
          <a:ext cx="0" cy="0"/>
          <a:chOff x="0" y="0"/>
          <a:chExt cx="0" cy="0"/>
        </a:xfrm>
      </p:grpSpPr>
      <p:sp>
        <p:nvSpPr>
          <p:cNvPr name="TextBox 2" id="2"/>
          <p:cNvSpPr txBox="true"/>
          <p:nvPr/>
        </p:nvSpPr>
        <p:spPr>
          <a:xfrm rot="0">
            <a:off x="720923" y="857250"/>
            <a:ext cx="7301359" cy="1566544"/>
          </a:xfrm>
          <a:prstGeom prst="rect">
            <a:avLst/>
          </a:prstGeom>
        </p:spPr>
        <p:txBody>
          <a:bodyPr anchor="t" rtlCol="false" tIns="0" lIns="0" bIns="0" rIns="0">
            <a:spAutoFit/>
          </a:bodyPr>
          <a:lstStyle/>
          <a:p>
            <a:pPr algn="ctr">
              <a:lnSpc>
                <a:spcPts val="12880"/>
              </a:lnSpc>
            </a:pPr>
            <a:r>
              <a:rPr lang="en-US" sz="9200" b="true">
                <a:solidFill>
                  <a:srgbClr val="000000"/>
                </a:solidFill>
                <a:latin typeface="Canva Sans Bold"/>
                <a:ea typeface="Canva Sans Bold"/>
                <a:cs typeface="Canva Sans Bold"/>
                <a:sym typeface="Canva Sans Bold"/>
              </a:rPr>
              <a:t>Question 11 :</a:t>
            </a:r>
          </a:p>
        </p:txBody>
      </p:sp>
      <p:sp>
        <p:nvSpPr>
          <p:cNvPr name="TextBox 3" id="3"/>
          <p:cNvSpPr txBox="true"/>
          <p:nvPr/>
        </p:nvSpPr>
        <p:spPr>
          <a:xfrm rot="0">
            <a:off x="1028700" y="5048250"/>
            <a:ext cx="16230600" cy="1811020"/>
          </a:xfrm>
          <a:prstGeom prst="rect">
            <a:avLst/>
          </a:prstGeom>
        </p:spPr>
        <p:txBody>
          <a:bodyPr anchor="t" rtlCol="false" tIns="0" lIns="0" bIns="0" rIns="0">
            <a:spAutoFit/>
          </a:bodyPr>
          <a:lstStyle/>
          <a:p>
            <a:pPr algn="l">
              <a:lnSpc>
                <a:spcPts val="7279"/>
              </a:lnSpc>
            </a:pPr>
            <a:r>
              <a:rPr lang="en-US" sz="5199" b="true">
                <a:solidFill>
                  <a:srgbClr val="000000"/>
                </a:solidFill>
                <a:latin typeface="Canva Sans Bold"/>
                <a:ea typeface="Canva Sans Bold"/>
                <a:cs typeface="Canva Sans Bold"/>
                <a:sym typeface="Canva Sans Bold"/>
              </a:rPr>
              <a:t>What is the average duration of ma</a:t>
            </a:r>
            <a:r>
              <a:rPr lang="en-US" sz="5199" b="true">
                <a:solidFill>
                  <a:srgbClr val="000000"/>
                </a:solidFill>
                <a:latin typeface="Canva Sans Bold"/>
                <a:ea typeface="Canva Sans Bold"/>
                <a:cs typeface="Canva Sans Bold"/>
                <a:sym typeface="Canva Sans Bold"/>
              </a:rPr>
              <a:t>tches?</a:t>
            </a:r>
          </a:p>
          <a:p>
            <a:pPr algn="l">
              <a:lnSpc>
                <a:spcPts val="7279"/>
              </a:lnSpc>
            </a:pPr>
          </a:p>
        </p:txBody>
      </p:sp>
    </p:spTree>
  </p:cSld>
  <p:clrMapOvr>
    <a:masterClrMapping/>
  </p:clrMapOvr>
</p:sld>
</file>

<file path=ppt/slides/slide48.xml><?xml version="1.0" encoding="utf-8"?>
<p:sld xmlns:p="http://schemas.openxmlformats.org/presentationml/2006/main" xmlns:a="http://schemas.openxmlformats.org/drawingml/2006/main">
  <p:cSld>
    <p:bg>
      <p:bgPr>
        <a:solidFill>
          <a:srgbClr val="D4EDF4"/>
        </a:solidFill>
      </p:bgPr>
    </p:bg>
    <p:spTree>
      <p:nvGrpSpPr>
        <p:cNvPr id="1" name=""/>
        <p:cNvGrpSpPr/>
        <p:nvPr/>
      </p:nvGrpSpPr>
      <p:grpSpPr>
        <a:xfrm>
          <a:off x="0" y="0"/>
          <a:ext cx="0" cy="0"/>
          <a:chOff x="0" y="0"/>
          <a:chExt cx="0" cy="0"/>
        </a:xfrm>
      </p:grpSpPr>
      <p:sp>
        <p:nvSpPr>
          <p:cNvPr name="TextBox 2" id="2"/>
          <p:cNvSpPr txBox="true"/>
          <p:nvPr/>
        </p:nvSpPr>
        <p:spPr>
          <a:xfrm rot="0">
            <a:off x="1337548" y="4652327"/>
            <a:ext cx="15612904" cy="3658870"/>
          </a:xfrm>
          <a:prstGeom prst="rect">
            <a:avLst/>
          </a:prstGeom>
        </p:spPr>
        <p:txBody>
          <a:bodyPr anchor="t" rtlCol="false" tIns="0" lIns="0" bIns="0" rIns="0">
            <a:spAutoFit/>
          </a:bodyPr>
          <a:lstStyle/>
          <a:p>
            <a:pPr algn="l">
              <a:lnSpc>
                <a:spcPts val="7279"/>
              </a:lnSpc>
              <a:spcBef>
                <a:spcPct val="0"/>
              </a:spcBef>
            </a:pPr>
            <a:r>
              <a:rPr lang="en-US" b="true" sz="5199">
                <a:solidFill>
                  <a:srgbClr val="000000"/>
                </a:solidFill>
                <a:latin typeface="Canva Sans Bold"/>
                <a:ea typeface="Canva Sans Bold"/>
                <a:cs typeface="Canva Sans Bold"/>
                <a:sym typeface="Canva Sans Bold"/>
              </a:rPr>
              <a:t>Ave</a:t>
            </a:r>
            <a:r>
              <a:rPr lang="en-US" b="true" sz="5199">
                <a:solidFill>
                  <a:srgbClr val="000000"/>
                </a:solidFill>
                <a:latin typeface="Canva Sans Bold"/>
                <a:ea typeface="Canva Sans Bold"/>
                <a:cs typeface="Canva Sans Bold"/>
                <a:sym typeface="Canva Sans Bold"/>
              </a:rPr>
              <a:t>rage match duration (in minutes) by gender:  </a:t>
            </a:r>
          </a:p>
          <a:p>
            <a:pPr algn="l">
              <a:lnSpc>
                <a:spcPts val="7279"/>
              </a:lnSpc>
              <a:spcBef>
                <a:spcPct val="0"/>
              </a:spcBef>
            </a:pPr>
            <a:r>
              <a:rPr lang="en-US" b="true" sz="5199">
                <a:solidFill>
                  <a:srgbClr val="000000"/>
                </a:solidFill>
                <a:latin typeface="Canva Sans Bold"/>
                <a:ea typeface="Canva Sans Bold"/>
                <a:cs typeface="Canva Sans Bold"/>
                <a:sym typeface="Canva Sans Bold"/>
              </a:rPr>
              <a:t>gender total_duration_min </a:t>
            </a:r>
          </a:p>
          <a:p>
            <a:pPr algn="l">
              <a:lnSpc>
                <a:spcPts val="7279"/>
              </a:lnSpc>
              <a:spcBef>
                <a:spcPct val="0"/>
              </a:spcBef>
            </a:pPr>
            <a:r>
              <a:rPr lang="en-US" b="true" sz="5199">
                <a:solidFill>
                  <a:srgbClr val="000000"/>
                </a:solidFill>
                <a:latin typeface="Canva Sans Bold"/>
                <a:ea typeface="Canva Sans Bold"/>
                <a:cs typeface="Canva Sans Bold"/>
                <a:sym typeface="Canva Sans Bold"/>
              </a:rPr>
              <a:t>F                109.349740 </a:t>
            </a:r>
          </a:p>
          <a:p>
            <a:pPr algn="l">
              <a:lnSpc>
                <a:spcPts val="7279"/>
              </a:lnSpc>
              <a:spcBef>
                <a:spcPct val="0"/>
              </a:spcBef>
            </a:pPr>
            <a:r>
              <a:rPr lang="en-US" b="true" sz="5199">
                <a:solidFill>
                  <a:srgbClr val="000000"/>
                </a:solidFill>
                <a:latin typeface="Canva Sans Bold"/>
                <a:ea typeface="Canva Sans Bold"/>
                <a:cs typeface="Canva Sans Bold"/>
                <a:sym typeface="Canva Sans Bold"/>
              </a:rPr>
              <a:t>M               116.743139</a:t>
            </a:r>
          </a:p>
        </p:txBody>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bg>
      <p:bgPr>
        <a:solidFill>
          <a:srgbClr val="D4EDF4"/>
        </a:solidFill>
      </p:bgPr>
    </p:bg>
    <p:spTree>
      <p:nvGrpSpPr>
        <p:cNvPr id="1" name=""/>
        <p:cNvGrpSpPr/>
        <p:nvPr/>
      </p:nvGrpSpPr>
      <p:grpSpPr>
        <a:xfrm>
          <a:off x="0" y="0"/>
          <a:ext cx="0" cy="0"/>
          <a:chOff x="0" y="0"/>
          <a:chExt cx="0" cy="0"/>
        </a:xfrm>
      </p:grpSpPr>
      <p:sp>
        <p:nvSpPr>
          <p:cNvPr name="Freeform 2" id="2"/>
          <p:cNvSpPr/>
          <p:nvPr/>
        </p:nvSpPr>
        <p:spPr>
          <a:xfrm flipH="false" flipV="false" rot="0">
            <a:off x="1504689" y="405193"/>
            <a:ext cx="15278622" cy="9476613"/>
          </a:xfrm>
          <a:custGeom>
            <a:avLst/>
            <a:gdLst/>
            <a:ahLst/>
            <a:cxnLst/>
            <a:rect r="r" b="b" t="t" l="l"/>
            <a:pathLst>
              <a:path h="9476613" w="15278622">
                <a:moveTo>
                  <a:pt x="0" y="0"/>
                </a:moveTo>
                <a:lnTo>
                  <a:pt x="15278622" y="0"/>
                </a:lnTo>
                <a:lnTo>
                  <a:pt x="15278622" y="9476614"/>
                </a:lnTo>
                <a:lnTo>
                  <a:pt x="0" y="9476614"/>
                </a:lnTo>
                <a:lnTo>
                  <a:pt x="0" y="0"/>
                </a:lnTo>
                <a:close/>
              </a:path>
            </a:pathLst>
          </a:custGeom>
          <a:blipFill>
            <a:blip r:embed="rId2"/>
            <a:stretch>
              <a:fillRect l="0" t="0" r="0" b="0"/>
            </a:stretch>
          </a:blipFill>
        </p:spPr>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bg>
      <p:bgPr>
        <a:solidFill>
          <a:srgbClr val="D4EDF4"/>
        </a:solidFill>
      </p:bgPr>
    </p:bg>
    <p:spTree>
      <p:nvGrpSpPr>
        <p:cNvPr id="1" name=""/>
        <p:cNvGrpSpPr/>
        <p:nvPr/>
      </p:nvGrpSpPr>
      <p:grpSpPr>
        <a:xfrm>
          <a:off x="0" y="0"/>
          <a:ext cx="0" cy="0"/>
          <a:chOff x="0" y="0"/>
          <a:chExt cx="0" cy="0"/>
        </a:xfrm>
      </p:grpSpPr>
      <p:sp>
        <p:nvSpPr>
          <p:cNvPr name="Freeform 2" id="2"/>
          <p:cNvSpPr/>
          <p:nvPr/>
        </p:nvSpPr>
        <p:spPr>
          <a:xfrm flipH="false" flipV="false" rot="0">
            <a:off x="1227784" y="423456"/>
            <a:ext cx="15832431" cy="9440087"/>
          </a:xfrm>
          <a:custGeom>
            <a:avLst/>
            <a:gdLst/>
            <a:ahLst/>
            <a:cxnLst/>
            <a:rect r="r" b="b" t="t" l="l"/>
            <a:pathLst>
              <a:path h="9440087" w="15832431">
                <a:moveTo>
                  <a:pt x="0" y="0"/>
                </a:moveTo>
                <a:lnTo>
                  <a:pt x="15832432" y="0"/>
                </a:lnTo>
                <a:lnTo>
                  <a:pt x="15832432" y="9440088"/>
                </a:lnTo>
                <a:lnTo>
                  <a:pt x="0" y="9440088"/>
                </a:lnTo>
                <a:lnTo>
                  <a:pt x="0" y="0"/>
                </a:lnTo>
                <a:close/>
              </a:path>
            </a:pathLst>
          </a:custGeom>
          <a:blipFill>
            <a:blip r:embed="rId2"/>
            <a:stretch>
              <a:fillRect l="0" t="0" r="0" b="0"/>
            </a:stretch>
          </a:blipFill>
        </p:spPr>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bg>
      <p:bgPr>
        <a:solidFill>
          <a:srgbClr val="D4EDF4"/>
        </a:solidFill>
      </p:bgPr>
    </p:bg>
    <p:spTree>
      <p:nvGrpSpPr>
        <p:cNvPr id="1" name=""/>
        <p:cNvGrpSpPr/>
        <p:nvPr/>
      </p:nvGrpSpPr>
      <p:grpSpPr>
        <a:xfrm>
          <a:off x="0" y="0"/>
          <a:ext cx="0" cy="0"/>
          <a:chOff x="0" y="0"/>
          <a:chExt cx="0" cy="0"/>
        </a:xfrm>
      </p:grpSpPr>
      <p:sp>
        <p:nvSpPr>
          <p:cNvPr name="Freeform 2" id="2"/>
          <p:cNvSpPr/>
          <p:nvPr/>
        </p:nvSpPr>
        <p:spPr>
          <a:xfrm flipH="false" flipV="false" rot="0">
            <a:off x="1681261" y="570709"/>
            <a:ext cx="15578039" cy="9288406"/>
          </a:xfrm>
          <a:custGeom>
            <a:avLst/>
            <a:gdLst/>
            <a:ahLst/>
            <a:cxnLst/>
            <a:rect r="r" b="b" t="t" l="l"/>
            <a:pathLst>
              <a:path h="9288406" w="15578039">
                <a:moveTo>
                  <a:pt x="0" y="0"/>
                </a:moveTo>
                <a:lnTo>
                  <a:pt x="15578039" y="0"/>
                </a:lnTo>
                <a:lnTo>
                  <a:pt x="15578039" y="9288406"/>
                </a:lnTo>
                <a:lnTo>
                  <a:pt x="0" y="9288406"/>
                </a:lnTo>
                <a:lnTo>
                  <a:pt x="0" y="0"/>
                </a:lnTo>
                <a:close/>
              </a:path>
            </a:pathLst>
          </a:custGeom>
          <a:blipFill>
            <a:blip r:embed="rId2"/>
            <a:stretch>
              <a:fillRect l="0" t="0" r="0" b="0"/>
            </a:stretch>
          </a:blipFill>
        </p:spPr>
      </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bg>
      <p:bgPr>
        <a:solidFill>
          <a:srgbClr val="D4EDF4"/>
        </a:solidFill>
      </p:bgPr>
    </p:bg>
    <p:spTree>
      <p:nvGrpSpPr>
        <p:cNvPr id="1" name=""/>
        <p:cNvGrpSpPr/>
        <p:nvPr/>
      </p:nvGrpSpPr>
      <p:grpSpPr>
        <a:xfrm>
          <a:off x="0" y="0"/>
          <a:ext cx="0" cy="0"/>
          <a:chOff x="0" y="0"/>
          <a:chExt cx="0" cy="0"/>
        </a:xfrm>
      </p:grpSpPr>
      <p:sp>
        <p:nvSpPr>
          <p:cNvPr name="Freeform 2" id="2"/>
          <p:cNvSpPr/>
          <p:nvPr/>
        </p:nvSpPr>
        <p:spPr>
          <a:xfrm flipH="false" flipV="false" rot="0">
            <a:off x="2020451" y="514177"/>
            <a:ext cx="15238849" cy="9086164"/>
          </a:xfrm>
          <a:custGeom>
            <a:avLst/>
            <a:gdLst/>
            <a:ahLst/>
            <a:cxnLst/>
            <a:rect r="r" b="b" t="t" l="l"/>
            <a:pathLst>
              <a:path h="9086164" w="15238849">
                <a:moveTo>
                  <a:pt x="0" y="0"/>
                </a:moveTo>
                <a:lnTo>
                  <a:pt x="15238849" y="0"/>
                </a:lnTo>
                <a:lnTo>
                  <a:pt x="15238849" y="9086164"/>
                </a:lnTo>
                <a:lnTo>
                  <a:pt x="0" y="9086164"/>
                </a:lnTo>
                <a:lnTo>
                  <a:pt x="0" y="0"/>
                </a:lnTo>
                <a:close/>
              </a:path>
            </a:pathLst>
          </a:custGeom>
          <a:blipFill>
            <a:blip r:embed="rId2"/>
            <a:stretch>
              <a:fillRect l="0" t="0" r="0" b="0"/>
            </a:stretch>
          </a:blipFill>
        </p:spPr>
      </p:sp>
    </p:spTree>
  </p:cSld>
  <p:clrMapOvr>
    <a:masterClrMapping/>
  </p:clrMapOvr>
</p:sld>
</file>

<file path=ppt/slides/slide53.xml><?xml version="1.0" encoding="utf-8"?>
<p:sld xmlns:p="http://schemas.openxmlformats.org/presentationml/2006/main" xmlns:a="http://schemas.openxmlformats.org/drawingml/2006/main">
  <p:cSld>
    <p:bg>
      <p:bgPr>
        <a:solidFill>
          <a:srgbClr val="D4EDF4"/>
        </a:solidFill>
      </p:bgPr>
    </p:bg>
    <p:spTree>
      <p:nvGrpSpPr>
        <p:cNvPr id="1" name=""/>
        <p:cNvGrpSpPr/>
        <p:nvPr/>
      </p:nvGrpSpPr>
      <p:grpSpPr>
        <a:xfrm>
          <a:off x="0" y="0"/>
          <a:ext cx="0" cy="0"/>
          <a:chOff x="0" y="0"/>
          <a:chExt cx="0" cy="0"/>
        </a:xfrm>
      </p:grpSpPr>
      <p:sp>
        <p:nvSpPr>
          <p:cNvPr name="TextBox 2" id="2"/>
          <p:cNvSpPr txBox="true"/>
          <p:nvPr/>
        </p:nvSpPr>
        <p:spPr>
          <a:xfrm rot="0">
            <a:off x="703213" y="857250"/>
            <a:ext cx="7336780" cy="1566544"/>
          </a:xfrm>
          <a:prstGeom prst="rect">
            <a:avLst/>
          </a:prstGeom>
        </p:spPr>
        <p:txBody>
          <a:bodyPr anchor="t" rtlCol="false" tIns="0" lIns="0" bIns="0" rIns="0">
            <a:spAutoFit/>
          </a:bodyPr>
          <a:lstStyle/>
          <a:p>
            <a:pPr algn="ctr">
              <a:lnSpc>
                <a:spcPts val="12880"/>
              </a:lnSpc>
            </a:pPr>
            <a:r>
              <a:rPr lang="en-US" sz="9200" b="true">
                <a:solidFill>
                  <a:srgbClr val="000000"/>
                </a:solidFill>
                <a:latin typeface="Canva Sans Bold"/>
                <a:ea typeface="Canva Sans Bold"/>
                <a:cs typeface="Canva Sans Bold"/>
                <a:sym typeface="Canva Sans Bold"/>
              </a:rPr>
              <a:t>Question 12 :</a:t>
            </a:r>
          </a:p>
        </p:txBody>
      </p:sp>
      <p:sp>
        <p:nvSpPr>
          <p:cNvPr name="TextBox 3" id="3"/>
          <p:cNvSpPr txBox="true"/>
          <p:nvPr/>
        </p:nvSpPr>
        <p:spPr>
          <a:xfrm rot="0">
            <a:off x="1028700" y="5048250"/>
            <a:ext cx="16230600" cy="2734945"/>
          </a:xfrm>
          <a:prstGeom prst="rect">
            <a:avLst/>
          </a:prstGeom>
        </p:spPr>
        <p:txBody>
          <a:bodyPr anchor="t" rtlCol="false" tIns="0" lIns="0" bIns="0" rIns="0">
            <a:spAutoFit/>
          </a:bodyPr>
          <a:lstStyle/>
          <a:p>
            <a:pPr algn="l">
              <a:lnSpc>
                <a:spcPts val="7279"/>
              </a:lnSpc>
            </a:pPr>
            <a:r>
              <a:rPr lang="en-US" sz="5199" b="true">
                <a:solidFill>
                  <a:srgbClr val="000000"/>
                </a:solidFill>
                <a:latin typeface="Canva Sans Bold"/>
                <a:ea typeface="Canva Sans Bold"/>
                <a:cs typeface="Canva Sans Bold"/>
                <a:sym typeface="Canva Sans Bold"/>
              </a:rPr>
              <a:t>What is the average number of games per set in men's matches compared to women's ma</a:t>
            </a:r>
            <a:r>
              <a:rPr lang="en-US" sz="5199" b="true">
                <a:solidFill>
                  <a:srgbClr val="000000"/>
                </a:solidFill>
                <a:latin typeface="Canva Sans Bold"/>
                <a:ea typeface="Canva Sans Bold"/>
                <a:cs typeface="Canva Sans Bold"/>
                <a:sym typeface="Canva Sans Bold"/>
              </a:rPr>
              <a:t>tches?</a:t>
            </a:r>
          </a:p>
          <a:p>
            <a:pPr algn="l">
              <a:lnSpc>
                <a:spcPts val="7279"/>
              </a:lnSpc>
            </a:pPr>
          </a:p>
        </p:txBody>
      </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bg>
      <p:bgPr>
        <a:solidFill>
          <a:srgbClr val="D4EDF4"/>
        </a:solidFill>
      </p:bgPr>
    </p:bg>
    <p:spTree>
      <p:nvGrpSpPr>
        <p:cNvPr id="1" name=""/>
        <p:cNvGrpSpPr/>
        <p:nvPr/>
      </p:nvGrpSpPr>
      <p:grpSpPr>
        <a:xfrm>
          <a:off x="0" y="0"/>
          <a:ext cx="0" cy="0"/>
          <a:chOff x="0" y="0"/>
          <a:chExt cx="0" cy="0"/>
        </a:xfrm>
      </p:grpSpPr>
      <p:sp>
        <p:nvSpPr>
          <p:cNvPr name="Freeform 2" id="2"/>
          <p:cNvSpPr/>
          <p:nvPr/>
        </p:nvSpPr>
        <p:spPr>
          <a:xfrm flipH="false" flipV="false" rot="0">
            <a:off x="2607366" y="261710"/>
            <a:ext cx="13073269" cy="9763580"/>
          </a:xfrm>
          <a:custGeom>
            <a:avLst/>
            <a:gdLst/>
            <a:ahLst/>
            <a:cxnLst/>
            <a:rect r="r" b="b" t="t" l="l"/>
            <a:pathLst>
              <a:path h="9763580" w="13073269">
                <a:moveTo>
                  <a:pt x="0" y="0"/>
                </a:moveTo>
                <a:lnTo>
                  <a:pt x="13073268" y="0"/>
                </a:lnTo>
                <a:lnTo>
                  <a:pt x="13073268" y="9763580"/>
                </a:lnTo>
                <a:lnTo>
                  <a:pt x="0" y="9763580"/>
                </a:lnTo>
                <a:lnTo>
                  <a:pt x="0" y="0"/>
                </a:lnTo>
                <a:close/>
              </a:path>
            </a:pathLst>
          </a:custGeom>
          <a:blipFill>
            <a:blip r:embed="rId2"/>
            <a:stretch>
              <a:fillRect l="0" t="0" r="0" b="0"/>
            </a:stretch>
          </a:blipFill>
        </p:spPr>
      </p:sp>
    </p:spTree>
  </p:cSld>
  <p:clrMapOvr>
    <a:masterClrMapping/>
  </p:clrMapOvr>
</p:sld>
</file>

<file path=ppt/slides/slide55.xml><?xml version="1.0" encoding="utf-8"?>
<p:sld xmlns:p="http://schemas.openxmlformats.org/presentationml/2006/main" xmlns:a="http://schemas.openxmlformats.org/drawingml/2006/main" xmlns:r="http://schemas.openxmlformats.org/officeDocument/2006/relationships">
  <p:cSld>
    <p:bg>
      <p:bgPr>
        <a:solidFill>
          <a:srgbClr val="D4EDF4"/>
        </a:solidFill>
      </p:bgPr>
    </p:bg>
    <p:spTree>
      <p:nvGrpSpPr>
        <p:cNvPr id="1" name=""/>
        <p:cNvGrpSpPr/>
        <p:nvPr/>
      </p:nvGrpSpPr>
      <p:grpSpPr>
        <a:xfrm>
          <a:off x="0" y="0"/>
          <a:ext cx="0" cy="0"/>
          <a:chOff x="0" y="0"/>
          <a:chExt cx="0" cy="0"/>
        </a:xfrm>
      </p:grpSpPr>
      <p:sp>
        <p:nvSpPr>
          <p:cNvPr name="Freeform 2" id="2"/>
          <p:cNvSpPr/>
          <p:nvPr/>
        </p:nvSpPr>
        <p:spPr>
          <a:xfrm flipH="false" flipV="false" rot="0">
            <a:off x="1968728" y="371944"/>
            <a:ext cx="14350543" cy="9543111"/>
          </a:xfrm>
          <a:custGeom>
            <a:avLst/>
            <a:gdLst/>
            <a:ahLst/>
            <a:cxnLst/>
            <a:rect r="r" b="b" t="t" l="l"/>
            <a:pathLst>
              <a:path h="9543111" w="14350543">
                <a:moveTo>
                  <a:pt x="0" y="0"/>
                </a:moveTo>
                <a:lnTo>
                  <a:pt x="14350544" y="0"/>
                </a:lnTo>
                <a:lnTo>
                  <a:pt x="14350544" y="9543112"/>
                </a:lnTo>
                <a:lnTo>
                  <a:pt x="0" y="9543112"/>
                </a:lnTo>
                <a:lnTo>
                  <a:pt x="0" y="0"/>
                </a:lnTo>
                <a:close/>
              </a:path>
            </a:pathLst>
          </a:custGeom>
          <a:blipFill>
            <a:blip r:embed="rId2"/>
            <a:stretch>
              <a:fillRect l="0" t="0" r="0" b="0"/>
            </a:stretch>
          </a:blipFill>
        </p:spPr>
      </p:sp>
    </p:spTree>
  </p:cSld>
  <p:clrMapOvr>
    <a:masterClrMapping/>
  </p:clrMapOvr>
</p:sld>
</file>

<file path=ppt/slides/slide56.xml><?xml version="1.0" encoding="utf-8"?>
<p:sld xmlns:p="http://schemas.openxmlformats.org/presentationml/2006/main" xmlns:a="http://schemas.openxmlformats.org/drawingml/2006/main" xmlns:r="http://schemas.openxmlformats.org/officeDocument/2006/relationships">
  <p:cSld>
    <p:bg>
      <p:bgPr>
        <a:solidFill>
          <a:srgbClr val="D4EDF4"/>
        </a:solidFill>
      </p:bgPr>
    </p:bg>
    <p:spTree>
      <p:nvGrpSpPr>
        <p:cNvPr id="1" name=""/>
        <p:cNvGrpSpPr/>
        <p:nvPr/>
      </p:nvGrpSpPr>
      <p:grpSpPr>
        <a:xfrm>
          <a:off x="0" y="0"/>
          <a:ext cx="0" cy="0"/>
          <a:chOff x="0" y="0"/>
          <a:chExt cx="0" cy="0"/>
        </a:xfrm>
      </p:grpSpPr>
      <p:sp>
        <p:nvSpPr>
          <p:cNvPr name="Freeform 2" id="2"/>
          <p:cNvSpPr/>
          <p:nvPr/>
        </p:nvSpPr>
        <p:spPr>
          <a:xfrm flipH="false" flipV="false" rot="0">
            <a:off x="2532676" y="615279"/>
            <a:ext cx="13618709" cy="9056441"/>
          </a:xfrm>
          <a:custGeom>
            <a:avLst/>
            <a:gdLst/>
            <a:ahLst/>
            <a:cxnLst/>
            <a:rect r="r" b="b" t="t" l="l"/>
            <a:pathLst>
              <a:path h="9056441" w="13618709">
                <a:moveTo>
                  <a:pt x="0" y="0"/>
                </a:moveTo>
                <a:lnTo>
                  <a:pt x="13618709" y="0"/>
                </a:lnTo>
                <a:lnTo>
                  <a:pt x="13618709" y="9056442"/>
                </a:lnTo>
                <a:lnTo>
                  <a:pt x="0" y="9056442"/>
                </a:lnTo>
                <a:lnTo>
                  <a:pt x="0" y="0"/>
                </a:lnTo>
                <a:close/>
              </a:path>
            </a:pathLst>
          </a:custGeom>
          <a:blipFill>
            <a:blip r:embed="rId2"/>
            <a:stretch>
              <a:fillRect l="0" t="0" r="0" b="0"/>
            </a:stretch>
          </a:blipFill>
        </p:spPr>
      </p:sp>
    </p:spTree>
  </p:cSld>
  <p:clrMapOvr>
    <a:masterClrMapping/>
  </p:clrMapOvr>
</p:sld>
</file>

<file path=ppt/slides/slide57.xml><?xml version="1.0" encoding="utf-8"?>
<p:sld xmlns:p="http://schemas.openxmlformats.org/presentationml/2006/main" xmlns:a="http://schemas.openxmlformats.org/drawingml/2006/main">
  <p:cSld>
    <p:bg>
      <p:bgPr>
        <a:solidFill>
          <a:srgbClr val="D4EDF4"/>
        </a:solidFill>
      </p:bgPr>
    </p:bg>
    <p:spTree>
      <p:nvGrpSpPr>
        <p:cNvPr id="1" name=""/>
        <p:cNvGrpSpPr/>
        <p:nvPr/>
      </p:nvGrpSpPr>
      <p:grpSpPr>
        <a:xfrm>
          <a:off x="0" y="0"/>
          <a:ext cx="0" cy="0"/>
          <a:chOff x="0" y="0"/>
          <a:chExt cx="0" cy="0"/>
        </a:xfrm>
      </p:grpSpPr>
      <p:sp>
        <p:nvSpPr>
          <p:cNvPr name="TextBox 2" id="2"/>
          <p:cNvSpPr txBox="true"/>
          <p:nvPr/>
        </p:nvSpPr>
        <p:spPr>
          <a:xfrm rot="0">
            <a:off x="683568" y="857250"/>
            <a:ext cx="7376071" cy="1566544"/>
          </a:xfrm>
          <a:prstGeom prst="rect">
            <a:avLst/>
          </a:prstGeom>
        </p:spPr>
        <p:txBody>
          <a:bodyPr anchor="t" rtlCol="false" tIns="0" lIns="0" bIns="0" rIns="0">
            <a:spAutoFit/>
          </a:bodyPr>
          <a:lstStyle/>
          <a:p>
            <a:pPr algn="ctr">
              <a:lnSpc>
                <a:spcPts val="12880"/>
              </a:lnSpc>
            </a:pPr>
            <a:r>
              <a:rPr lang="en-US" sz="9200" b="true">
                <a:solidFill>
                  <a:srgbClr val="000000"/>
                </a:solidFill>
                <a:latin typeface="Canva Sans Bold"/>
                <a:ea typeface="Canva Sans Bold"/>
                <a:cs typeface="Canva Sans Bold"/>
                <a:sym typeface="Canva Sans Bold"/>
              </a:rPr>
              <a:t>Question 13 :</a:t>
            </a:r>
          </a:p>
        </p:txBody>
      </p:sp>
      <p:sp>
        <p:nvSpPr>
          <p:cNvPr name="TextBox 3" id="3"/>
          <p:cNvSpPr txBox="true"/>
          <p:nvPr/>
        </p:nvSpPr>
        <p:spPr>
          <a:xfrm rot="0">
            <a:off x="1028700" y="5048250"/>
            <a:ext cx="16230600" cy="2734945"/>
          </a:xfrm>
          <a:prstGeom prst="rect">
            <a:avLst/>
          </a:prstGeom>
        </p:spPr>
        <p:txBody>
          <a:bodyPr anchor="t" rtlCol="false" tIns="0" lIns="0" bIns="0" rIns="0">
            <a:spAutoFit/>
          </a:bodyPr>
          <a:lstStyle/>
          <a:p>
            <a:pPr algn="l">
              <a:lnSpc>
                <a:spcPts val="7279"/>
              </a:lnSpc>
            </a:pPr>
            <a:r>
              <a:rPr lang="en-US" sz="5199" b="true">
                <a:solidFill>
                  <a:srgbClr val="000000"/>
                </a:solidFill>
                <a:latin typeface="Canva Sans Bold"/>
                <a:ea typeface="Canva Sans Bold"/>
                <a:cs typeface="Canva Sans Bold"/>
                <a:sym typeface="Canva Sans Bold"/>
              </a:rPr>
              <a:t>What is the distribution of left-handed versus right-handed play</a:t>
            </a:r>
            <a:r>
              <a:rPr lang="en-US" sz="5199" b="true">
                <a:solidFill>
                  <a:srgbClr val="000000"/>
                </a:solidFill>
                <a:latin typeface="Canva Sans Bold"/>
                <a:ea typeface="Canva Sans Bold"/>
                <a:cs typeface="Canva Sans Bold"/>
                <a:sym typeface="Canva Sans Bold"/>
              </a:rPr>
              <a:t>ers?</a:t>
            </a:r>
          </a:p>
          <a:p>
            <a:pPr algn="l">
              <a:lnSpc>
                <a:spcPts val="7279"/>
              </a:lnSpc>
            </a:pPr>
          </a:p>
        </p:txBody>
      </p:sp>
    </p:spTree>
  </p:cSld>
  <p:clrMapOvr>
    <a:masterClrMapping/>
  </p:clrMapOvr>
</p:sld>
</file>

<file path=ppt/slides/slide58.xml><?xml version="1.0" encoding="utf-8"?>
<p:sld xmlns:p="http://schemas.openxmlformats.org/presentationml/2006/main" xmlns:a="http://schemas.openxmlformats.org/drawingml/2006/main">
  <p:cSld>
    <p:bg>
      <p:bgPr>
        <a:solidFill>
          <a:srgbClr val="D4EDF4"/>
        </a:solidFill>
      </p:bgPr>
    </p:bg>
    <p:spTree>
      <p:nvGrpSpPr>
        <p:cNvPr id="1" name=""/>
        <p:cNvGrpSpPr/>
        <p:nvPr/>
      </p:nvGrpSpPr>
      <p:grpSpPr>
        <a:xfrm>
          <a:off x="0" y="0"/>
          <a:ext cx="0" cy="0"/>
          <a:chOff x="0" y="0"/>
          <a:chExt cx="0" cy="0"/>
        </a:xfrm>
      </p:grpSpPr>
      <p:sp>
        <p:nvSpPr>
          <p:cNvPr name="TextBox 2" id="2"/>
          <p:cNvSpPr txBox="true"/>
          <p:nvPr/>
        </p:nvSpPr>
        <p:spPr>
          <a:xfrm rot="0">
            <a:off x="5657850" y="3728402"/>
            <a:ext cx="6972300" cy="2734945"/>
          </a:xfrm>
          <a:prstGeom prst="rect">
            <a:avLst/>
          </a:prstGeom>
        </p:spPr>
        <p:txBody>
          <a:bodyPr anchor="t" rtlCol="false" tIns="0" lIns="0" bIns="0" rIns="0">
            <a:spAutoFit/>
          </a:bodyPr>
          <a:lstStyle/>
          <a:p>
            <a:pPr algn="l">
              <a:lnSpc>
                <a:spcPts val="7279"/>
              </a:lnSpc>
              <a:spcBef>
                <a:spcPct val="0"/>
              </a:spcBef>
            </a:pPr>
            <a:r>
              <a:rPr lang="en-US" b="true" sz="5199">
                <a:solidFill>
                  <a:srgbClr val="000000"/>
                </a:solidFill>
                <a:latin typeface="Canva Sans Bold"/>
                <a:ea typeface="Canva Sans Bold"/>
                <a:cs typeface="Canva Sans Bold"/>
                <a:sym typeface="Canva Sans Bold"/>
              </a:rPr>
              <a:t>plays</a:t>
            </a:r>
          </a:p>
          <a:p>
            <a:pPr algn="l">
              <a:lnSpc>
                <a:spcPts val="7279"/>
              </a:lnSpc>
              <a:spcBef>
                <a:spcPct val="0"/>
              </a:spcBef>
            </a:pPr>
            <a:r>
              <a:rPr lang="en-US" b="true" sz="5199">
                <a:solidFill>
                  <a:srgbClr val="000000"/>
                </a:solidFill>
                <a:latin typeface="Canva Sans Bold"/>
                <a:ea typeface="Canva Sans Bold"/>
                <a:cs typeface="Canva Sans Bold"/>
                <a:sym typeface="Canva Sans Bold"/>
              </a:rPr>
              <a:t>Right-handed    10424</a:t>
            </a:r>
          </a:p>
          <a:p>
            <a:pPr algn="l">
              <a:lnSpc>
                <a:spcPts val="7279"/>
              </a:lnSpc>
              <a:spcBef>
                <a:spcPct val="0"/>
              </a:spcBef>
            </a:pPr>
            <a:r>
              <a:rPr lang="en-US" b="true" sz="5199">
                <a:solidFill>
                  <a:srgbClr val="000000"/>
                </a:solidFill>
                <a:latin typeface="Canva Sans Bold"/>
                <a:ea typeface="Canva Sans Bold"/>
                <a:cs typeface="Canva Sans Bold"/>
                <a:sym typeface="Canva Sans Bold"/>
              </a:rPr>
              <a:t>Left-handed      1371</a:t>
            </a:r>
          </a:p>
        </p:txBody>
      </p:sp>
    </p:spTree>
  </p:cSld>
  <p:clrMapOvr>
    <a:masterClrMapping/>
  </p:clrMapOvr>
</p:sld>
</file>

<file path=ppt/slides/slide59.xml><?xml version="1.0" encoding="utf-8"?>
<p:sld xmlns:p="http://schemas.openxmlformats.org/presentationml/2006/main" xmlns:a="http://schemas.openxmlformats.org/drawingml/2006/main" xmlns:r="http://schemas.openxmlformats.org/officeDocument/2006/relationships">
  <p:cSld>
    <p:bg>
      <p:bgPr>
        <a:solidFill>
          <a:srgbClr val="D4EDF4"/>
        </a:solidFill>
      </p:bgPr>
    </p:bg>
    <p:spTree>
      <p:nvGrpSpPr>
        <p:cNvPr id="1" name=""/>
        <p:cNvGrpSpPr/>
        <p:nvPr/>
      </p:nvGrpSpPr>
      <p:grpSpPr>
        <a:xfrm>
          <a:off x="0" y="0"/>
          <a:ext cx="0" cy="0"/>
          <a:chOff x="0" y="0"/>
          <a:chExt cx="0" cy="0"/>
        </a:xfrm>
      </p:grpSpPr>
      <p:sp>
        <p:nvSpPr>
          <p:cNvPr name="Freeform 2" id="2"/>
          <p:cNvSpPr/>
          <p:nvPr/>
        </p:nvSpPr>
        <p:spPr>
          <a:xfrm flipH="false" flipV="false" rot="0">
            <a:off x="2058528" y="192526"/>
            <a:ext cx="14170945" cy="9901948"/>
          </a:xfrm>
          <a:custGeom>
            <a:avLst/>
            <a:gdLst/>
            <a:ahLst/>
            <a:cxnLst/>
            <a:rect r="r" b="b" t="t" l="l"/>
            <a:pathLst>
              <a:path h="9901948" w="14170945">
                <a:moveTo>
                  <a:pt x="0" y="0"/>
                </a:moveTo>
                <a:lnTo>
                  <a:pt x="14170944" y="0"/>
                </a:lnTo>
                <a:lnTo>
                  <a:pt x="14170944" y="9901948"/>
                </a:lnTo>
                <a:lnTo>
                  <a:pt x="0" y="9901948"/>
                </a:lnTo>
                <a:lnTo>
                  <a:pt x="0" y="0"/>
                </a:lnTo>
                <a:close/>
              </a:path>
            </a:pathLst>
          </a:custGeom>
          <a:blipFill>
            <a:blip r:embed="rId2"/>
            <a:stretch>
              <a:fillRect l="0" t="0" r="0" b="0"/>
            </a:stretch>
          </a:blipFill>
        </p:spPr>
      </p:sp>
    </p:spTree>
  </p:cSld>
  <p:clrMapOvr>
    <a:masterClrMapping/>
  </p:clrMapOvr>
</p:sld>
</file>

<file path=ppt/slides/slide60.xml><?xml version="1.0" encoding="utf-8"?>
<p:sld xmlns:p="http://schemas.openxmlformats.org/presentationml/2006/main" xmlns:a="http://schemas.openxmlformats.org/drawingml/2006/main">
  <p:cSld>
    <p:bg>
      <p:bgPr>
        <a:solidFill>
          <a:srgbClr val="D4EDF4"/>
        </a:solidFill>
      </p:bgPr>
    </p:bg>
    <p:spTree>
      <p:nvGrpSpPr>
        <p:cNvPr id="1" name=""/>
        <p:cNvGrpSpPr/>
        <p:nvPr/>
      </p:nvGrpSpPr>
      <p:grpSpPr>
        <a:xfrm>
          <a:off x="0" y="0"/>
          <a:ext cx="0" cy="0"/>
          <a:chOff x="0" y="0"/>
          <a:chExt cx="0" cy="0"/>
        </a:xfrm>
      </p:grpSpPr>
      <p:sp>
        <p:nvSpPr>
          <p:cNvPr name="TextBox 2" id="2"/>
          <p:cNvSpPr txBox="true"/>
          <p:nvPr/>
        </p:nvSpPr>
        <p:spPr>
          <a:xfrm rot="0">
            <a:off x="665262" y="857250"/>
            <a:ext cx="7412682" cy="1566544"/>
          </a:xfrm>
          <a:prstGeom prst="rect">
            <a:avLst/>
          </a:prstGeom>
        </p:spPr>
        <p:txBody>
          <a:bodyPr anchor="t" rtlCol="false" tIns="0" lIns="0" bIns="0" rIns="0">
            <a:spAutoFit/>
          </a:bodyPr>
          <a:lstStyle/>
          <a:p>
            <a:pPr algn="ctr">
              <a:lnSpc>
                <a:spcPts val="12880"/>
              </a:lnSpc>
            </a:pPr>
            <a:r>
              <a:rPr lang="en-US" sz="9200" b="true">
                <a:solidFill>
                  <a:srgbClr val="000000"/>
                </a:solidFill>
                <a:latin typeface="Canva Sans Bold"/>
                <a:ea typeface="Canva Sans Bold"/>
                <a:cs typeface="Canva Sans Bold"/>
                <a:sym typeface="Canva Sans Bold"/>
              </a:rPr>
              <a:t>Question 14 :</a:t>
            </a:r>
          </a:p>
        </p:txBody>
      </p:sp>
      <p:sp>
        <p:nvSpPr>
          <p:cNvPr name="TextBox 3" id="3"/>
          <p:cNvSpPr txBox="true"/>
          <p:nvPr/>
        </p:nvSpPr>
        <p:spPr>
          <a:xfrm rot="0">
            <a:off x="1028700" y="5048250"/>
            <a:ext cx="16230600" cy="2734945"/>
          </a:xfrm>
          <a:prstGeom prst="rect">
            <a:avLst/>
          </a:prstGeom>
        </p:spPr>
        <p:txBody>
          <a:bodyPr anchor="t" rtlCol="false" tIns="0" lIns="0" bIns="0" rIns="0">
            <a:spAutoFit/>
          </a:bodyPr>
          <a:lstStyle/>
          <a:p>
            <a:pPr algn="l">
              <a:lnSpc>
                <a:spcPts val="7279"/>
              </a:lnSpc>
            </a:pPr>
            <a:r>
              <a:rPr lang="en-US" sz="5199" b="true">
                <a:solidFill>
                  <a:srgbClr val="000000"/>
                </a:solidFill>
                <a:latin typeface="Canva Sans Bold"/>
                <a:ea typeface="Canva Sans Bold"/>
                <a:cs typeface="Canva Sans Bold"/>
                <a:sym typeface="Canva Sans Bold"/>
              </a:rPr>
              <a:t>What is the most common type of surface used in tournam</a:t>
            </a:r>
            <a:r>
              <a:rPr lang="en-US" sz="5199" b="true">
                <a:solidFill>
                  <a:srgbClr val="000000"/>
                </a:solidFill>
                <a:latin typeface="Canva Sans Bold"/>
                <a:ea typeface="Canva Sans Bold"/>
                <a:cs typeface="Canva Sans Bold"/>
                <a:sym typeface="Canva Sans Bold"/>
              </a:rPr>
              <a:t>ents?</a:t>
            </a:r>
          </a:p>
          <a:p>
            <a:pPr algn="l">
              <a:lnSpc>
                <a:spcPts val="7279"/>
              </a:lnSpc>
            </a:pPr>
          </a:p>
        </p:txBody>
      </p:sp>
    </p:spTree>
  </p:cSld>
  <p:clrMapOvr>
    <a:masterClrMapping/>
  </p:clrMapOvr>
</p:sld>
</file>

<file path=ppt/slides/slide61.xml><?xml version="1.0" encoding="utf-8"?>
<p:sld xmlns:p="http://schemas.openxmlformats.org/presentationml/2006/main" xmlns:a="http://schemas.openxmlformats.org/drawingml/2006/main" xmlns:r="http://schemas.openxmlformats.org/officeDocument/2006/relationships">
  <p:cSld>
    <p:bg>
      <p:bgPr>
        <a:solidFill>
          <a:srgbClr val="D4EDF4"/>
        </a:solidFill>
      </p:bgPr>
    </p:bg>
    <p:spTree>
      <p:nvGrpSpPr>
        <p:cNvPr id="1" name=""/>
        <p:cNvGrpSpPr/>
        <p:nvPr/>
      </p:nvGrpSpPr>
      <p:grpSpPr>
        <a:xfrm>
          <a:off x="0" y="0"/>
          <a:ext cx="0" cy="0"/>
          <a:chOff x="0" y="0"/>
          <a:chExt cx="0" cy="0"/>
        </a:xfrm>
      </p:grpSpPr>
      <p:sp>
        <p:nvSpPr>
          <p:cNvPr name="Freeform 2" id="2"/>
          <p:cNvSpPr/>
          <p:nvPr/>
        </p:nvSpPr>
        <p:spPr>
          <a:xfrm flipH="false" flipV="false" rot="0">
            <a:off x="890001" y="471425"/>
            <a:ext cx="16507998" cy="9344150"/>
          </a:xfrm>
          <a:custGeom>
            <a:avLst/>
            <a:gdLst/>
            <a:ahLst/>
            <a:cxnLst/>
            <a:rect r="r" b="b" t="t" l="l"/>
            <a:pathLst>
              <a:path h="9344150" w="16507998">
                <a:moveTo>
                  <a:pt x="0" y="0"/>
                </a:moveTo>
                <a:lnTo>
                  <a:pt x="16507998" y="0"/>
                </a:lnTo>
                <a:lnTo>
                  <a:pt x="16507998" y="9344150"/>
                </a:lnTo>
                <a:lnTo>
                  <a:pt x="0" y="9344150"/>
                </a:lnTo>
                <a:lnTo>
                  <a:pt x="0" y="0"/>
                </a:lnTo>
                <a:close/>
              </a:path>
            </a:pathLst>
          </a:custGeom>
          <a:blipFill>
            <a:blip r:embed="rId2"/>
            <a:stretch>
              <a:fillRect l="0" t="0" r="0" b="0"/>
            </a:stretch>
          </a:blipFill>
        </p:spPr>
      </p:sp>
    </p:spTree>
  </p:cSld>
  <p:clrMapOvr>
    <a:masterClrMapping/>
  </p:clrMapOvr>
</p:sld>
</file>

<file path=ppt/slides/slide62.xml><?xml version="1.0" encoding="utf-8"?>
<p:sld xmlns:p="http://schemas.openxmlformats.org/presentationml/2006/main" xmlns:a="http://schemas.openxmlformats.org/drawingml/2006/main">
  <p:cSld>
    <p:bg>
      <p:bgPr>
        <a:solidFill>
          <a:srgbClr val="D4EDF4"/>
        </a:solidFill>
      </p:bgPr>
    </p:bg>
    <p:spTree>
      <p:nvGrpSpPr>
        <p:cNvPr id="1" name=""/>
        <p:cNvGrpSpPr/>
        <p:nvPr/>
      </p:nvGrpSpPr>
      <p:grpSpPr>
        <a:xfrm>
          <a:off x="0" y="0"/>
          <a:ext cx="0" cy="0"/>
          <a:chOff x="0" y="0"/>
          <a:chExt cx="0" cy="0"/>
        </a:xfrm>
      </p:grpSpPr>
      <p:sp>
        <p:nvSpPr>
          <p:cNvPr name="TextBox 2" id="2"/>
          <p:cNvSpPr txBox="true"/>
          <p:nvPr/>
        </p:nvSpPr>
        <p:spPr>
          <a:xfrm rot="0">
            <a:off x="677242" y="857250"/>
            <a:ext cx="7388721" cy="1566544"/>
          </a:xfrm>
          <a:prstGeom prst="rect">
            <a:avLst/>
          </a:prstGeom>
        </p:spPr>
        <p:txBody>
          <a:bodyPr anchor="t" rtlCol="false" tIns="0" lIns="0" bIns="0" rIns="0">
            <a:spAutoFit/>
          </a:bodyPr>
          <a:lstStyle/>
          <a:p>
            <a:pPr algn="ctr">
              <a:lnSpc>
                <a:spcPts val="12880"/>
              </a:lnSpc>
            </a:pPr>
            <a:r>
              <a:rPr lang="en-US" sz="9200" b="true">
                <a:solidFill>
                  <a:srgbClr val="000000"/>
                </a:solidFill>
                <a:latin typeface="Canva Sans Bold"/>
                <a:ea typeface="Canva Sans Bold"/>
                <a:cs typeface="Canva Sans Bold"/>
                <a:sym typeface="Canva Sans Bold"/>
              </a:rPr>
              <a:t>Question 15 :</a:t>
            </a:r>
          </a:p>
        </p:txBody>
      </p:sp>
      <p:sp>
        <p:nvSpPr>
          <p:cNvPr name="TextBox 3" id="3"/>
          <p:cNvSpPr txBox="true"/>
          <p:nvPr/>
        </p:nvSpPr>
        <p:spPr>
          <a:xfrm rot="0">
            <a:off x="1028700" y="5048250"/>
            <a:ext cx="16230600" cy="2734945"/>
          </a:xfrm>
          <a:prstGeom prst="rect">
            <a:avLst/>
          </a:prstGeom>
        </p:spPr>
        <p:txBody>
          <a:bodyPr anchor="t" rtlCol="false" tIns="0" lIns="0" bIns="0" rIns="0">
            <a:spAutoFit/>
          </a:bodyPr>
          <a:lstStyle/>
          <a:p>
            <a:pPr algn="l">
              <a:lnSpc>
                <a:spcPts val="7279"/>
              </a:lnSpc>
            </a:pPr>
            <a:r>
              <a:rPr lang="en-US" sz="5199" b="true">
                <a:solidFill>
                  <a:srgbClr val="000000"/>
                </a:solidFill>
                <a:latin typeface="Canva Sans Bold"/>
                <a:ea typeface="Canva Sans Bold"/>
                <a:cs typeface="Canva Sans Bold"/>
                <a:sym typeface="Canva Sans Bold"/>
              </a:rPr>
              <a:t>How many distinct countries are represented in the datas</a:t>
            </a:r>
            <a:r>
              <a:rPr lang="en-US" sz="5199" b="true">
                <a:solidFill>
                  <a:srgbClr val="000000"/>
                </a:solidFill>
                <a:latin typeface="Canva Sans Bold"/>
                <a:ea typeface="Canva Sans Bold"/>
                <a:cs typeface="Canva Sans Bold"/>
                <a:sym typeface="Canva Sans Bold"/>
              </a:rPr>
              <a:t>et?</a:t>
            </a:r>
          </a:p>
          <a:p>
            <a:pPr algn="l">
              <a:lnSpc>
                <a:spcPts val="7279"/>
              </a:lnSpc>
            </a:pPr>
          </a:p>
        </p:txBody>
      </p:sp>
    </p:spTree>
  </p:cSld>
  <p:clrMapOvr>
    <a:masterClrMapping/>
  </p:clrMapOvr>
</p:sld>
</file>

<file path=ppt/slides/slide63.xml><?xml version="1.0" encoding="utf-8"?>
<p:sld xmlns:p="http://schemas.openxmlformats.org/presentationml/2006/main" xmlns:a="http://schemas.openxmlformats.org/drawingml/2006/main">
  <p:cSld>
    <p:bg>
      <p:bgPr>
        <a:solidFill>
          <a:srgbClr val="D4EDF4"/>
        </a:solidFill>
      </p:bgPr>
    </p:bg>
    <p:spTree>
      <p:nvGrpSpPr>
        <p:cNvPr id="1" name=""/>
        <p:cNvGrpSpPr/>
        <p:nvPr/>
      </p:nvGrpSpPr>
      <p:grpSpPr>
        <a:xfrm>
          <a:off x="0" y="0"/>
          <a:ext cx="0" cy="0"/>
          <a:chOff x="0" y="0"/>
          <a:chExt cx="0" cy="0"/>
        </a:xfrm>
      </p:grpSpPr>
      <p:sp>
        <p:nvSpPr>
          <p:cNvPr name="TextBox 2" id="2"/>
          <p:cNvSpPr txBox="true"/>
          <p:nvPr/>
        </p:nvSpPr>
        <p:spPr>
          <a:xfrm rot="0">
            <a:off x="2692836" y="4652327"/>
            <a:ext cx="12902328" cy="887095"/>
          </a:xfrm>
          <a:prstGeom prst="rect">
            <a:avLst/>
          </a:prstGeom>
        </p:spPr>
        <p:txBody>
          <a:bodyPr anchor="t" rtlCol="false" tIns="0" lIns="0" bIns="0" rIns="0">
            <a:spAutoFit/>
          </a:bodyPr>
          <a:lstStyle/>
          <a:p>
            <a:pPr algn="ctr">
              <a:lnSpc>
                <a:spcPts val="7279"/>
              </a:lnSpc>
              <a:spcBef>
                <a:spcPct val="0"/>
              </a:spcBef>
            </a:pPr>
            <a:r>
              <a:rPr lang="en-US" b="true" sz="5199">
                <a:solidFill>
                  <a:srgbClr val="000000"/>
                </a:solidFill>
                <a:latin typeface="Canva Sans Bold"/>
                <a:ea typeface="Canva Sans Bold"/>
                <a:cs typeface="Canva Sans Bold"/>
                <a:sym typeface="Canva Sans Bold"/>
              </a:rPr>
              <a:t>The number of distinct countries is: 101.</a:t>
            </a:r>
          </a:p>
        </p:txBody>
      </p:sp>
    </p:spTree>
  </p:cSld>
  <p:clrMapOvr>
    <a:masterClrMapping/>
  </p:clrMapOvr>
</p:sld>
</file>

<file path=ppt/slides/slide64.xml><?xml version="1.0" encoding="utf-8"?>
<p:sld xmlns:p="http://schemas.openxmlformats.org/presentationml/2006/main" xmlns:a="http://schemas.openxmlformats.org/drawingml/2006/main" xmlns:r="http://schemas.openxmlformats.org/officeDocument/2006/relationships">
  <p:cSld>
    <p:bg>
      <p:bgPr>
        <a:solidFill>
          <a:srgbClr val="D4EDF4"/>
        </a:solidFill>
      </p:bgPr>
    </p:bg>
    <p:spTree>
      <p:nvGrpSpPr>
        <p:cNvPr id="1" name=""/>
        <p:cNvGrpSpPr/>
        <p:nvPr/>
      </p:nvGrpSpPr>
      <p:grpSpPr>
        <a:xfrm>
          <a:off x="0" y="0"/>
          <a:ext cx="0" cy="0"/>
          <a:chOff x="0" y="0"/>
          <a:chExt cx="0" cy="0"/>
        </a:xfrm>
      </p:grpSpPr>
      <p:sp>
        <p:nvSpPr>
          <p:cNvPr name="Freeform 2" id="2"/>
          <p:cNvSpPr/>
          <p:nvPr/>
        </p:nvSpPr>
        <p:spPr>
          <a:xfrm flipH="false" flipV="false" rot="0">
            <a:off x="2673076" y="838191"/>
            <a:ext cx="13540909" cy="8420109"/>
          </a:xfrm>
          <a:custGeom>
            <a:avLst/>
            <a:gdLst/>
            <a:ahLst/>
            <a:cxnLst/>
            <a:rect r="r" b="b" t="t" l="l"/>
            <a:pathLst>
              <a:path h="8420109" w="13540909">
                <a:moveTo>
                  <a:pt x="0" y="0"/>
                </a:moveTo>
                <a:lnTo>
                  <a:pt x="13540909" y="0"/>
                </a:lnTo>
                <a:lnTo>
                  <a:pt x="13540909" y="8420109"/>
                </a:lnTo>
                <a:lnTo>
                  <a:pt x="0" y="8420109"/>
                </a:lnTo>
                <a:lnTo>
                  <a:pt x="0" y="0"/>
                </a:lnTo>
                <a:close/>
              </a:path>
            </a:pathLst>
          </a:custGeom>
          <a:blipFill>
            <a:blip r:embed="rId2"/>
            <a:stretch>
              <a:fillRect l="0" t="0" r="0" b="0"/>
            </a:stretch>
          </a:blipFill>
        </p:spPr>
      </p:sp>
    </p:spTree>
  </p:cSld>
  <p:clrMapOvr>
    <a:masterClrMapping/>
  </p:clrMapOvr>
</p:sld>
</file>

<file path=ppt/slides/slide65.xml><?xml version="1.0" encoding="utf-8"?>
<p:sld xmlns:p="http://schemas.openxmlformats.org/presentationml/2006/main" xmlns:a="http://schemas.openxmlformats.org/drawingml/2006/main">
  <p:cSld>
    <p:bg>
      <p:bgPr>
        <a:solidFill>
          <a:srgbClr val="D4EDF4"/>
        </a:solidFill>
      </p:bgPr>
    </p:bg>
    <p:spTree>
      <p:nvGrpSpPr>
        <p:cNvPr id="1" name=""/>
        <p:cNvGrpSpPr/>
        <p:nvPr/>
      </p:nvGrpSpPr>
      <p:grpSpPr>
        <a:xfrm>
          <a:off x="0" y="0"/>
          <a:ext cx="0" cy="0"/>
          <a:chOff x="0" y="0"/>
          <a:chExt cx="0" cy="0"/>
        </a:xfrm>
      </p:grpSpPr>
      <p:sp>
        <p:nvSpPr>
          <p:cNvPr name="TextBox 2" id="2"/>
          <p:cNvSpPr txBox="true"/>
          <p:nvPr/>
        </p:nvSpPr>
        <p:spPr>
          <a:xfrm rot="0">
            <a:off x="660722" y="857250"/>
            <a:ext cx="7421761" cy="1566544"/>
          </a:xfrm>
          <a:prstGeom prst="rect">
            <a:avLst/>
          </a:prstGeom>
        </p:spPr>
        <p:txBody>
          <a:bodyPr anchor="t" rtlCol="false" tIns="0" lIns="0" bIns="0" rIns="0">
            <a:spAutoFit/>
          </a:bodyPr>
          <a:lstStyle/>
          <a:p>
            <a:pPr algn="ctr">
              <a:lnSpc>
                <a:spcPts val="12880"/>
              </a:lnSpc>
            </a:pPr>
            <a:r>
              <a:rPr lang="en-US" sz="9200" b="true">
                <a:solidFill>
                  <a:srgbClr val="000000"/>
                </a:solidFill>
                <a:latin typeface="Canva Sans Bold"/>
                <a:ea typeface="Canva Sans Bold"/>
                <a:cs typeface="Canva Sans Bold"/>
                <a:sym typeface="Canva Sans Bold"/>
              </a:rPr>
              <a:t>Question 16 :</a:t>
            </a:r>
          </a:p>
        </p:txBody>
      </p:sp>
      <p:sp>
        <p:nvSpPr>
          <p:cNvPr name="TextBox 3" id="3"/>
          <p:cNvSpPr txBox="true"/>
          <p:nvPr/>
        </p:nvSpPr>
        <p:spPr>
          <a:xfrm rot="0">
            <a:off x="1028700" y="5048250"/>
            <a:ext cx="16230600" cy="2734945"/>
          </a:xfrm>
          <a:prstGeom prst="rect">
            <a:avLst/>
          </a:prstGeom>
        </p:spPr>
        <p:txBody>
          <a:bodyPr anchor="t" rtlCol="false" tIns="0" lIns="0" bIns="0" rIns="0">
            <a:spAutoFit/>
          </a:bodyPr>
          <a:lstStyle/>
          <a:p>
            <a:pPr algn="l">
              <a:lnSpc>
                <a:spcPts val="7279"/>
              </a:lnSpc>
            </a:pPr>
            <a:r>
              <a:rPr lang="en-US" sz="5199" b="true">
                <a:solidFill>
                  <a:srgbClr val="000000"/>
                </a:solidFill>
                <a:latin typeface="Canva Sans Bold"/>
                <a:ea typeface="Canva Sans Bold"/>
                <a:cs typeface="Canva Sans Bold"/>
                <a:sym typeface="Canva Sans Bold"/>
              </a:rPr>
              <a:t>Which player has the highest winning percentage against top 10 ranked opponents</a:t>
            </a:r>
            <a:r>
              <a:rPr lang="en-US" sz="5199" b="true">
                <a:solidFill>
                  <a:srgbClr val="000000"/>
                </a:solidFill>
                <a:latin typeface="Canva Sans Bold"/>
                <a:ea typeface="Canva Sans Bold"/>
                <a:cs typeface="Canva Sans Bold"/>
                <a:sym typeface="Canva Sans Bold"/>
              </a:rPr>
              <a:t>?</a:t>
            </a:r>
          </a:p>
          <a:p>
            <a:pPr algn="l">
              <a:lnSpc>
                <a:spcPts val="7279"/>
              </a:lnSpc>
            </a:pPr>
          </a:p>
        </p:txBody>
      </p:sp>
    </p:spTree>
  </p:cSld>
  <p:clrMapOvr>
    <a:masterClrMapping/>
  </p:clrMapOvr>
</p:sld>
</file>

<file path=ppt/slides/slide66.xml><?xml version="1.0" encoding="utf-8"?>
<p:sld xmlns:p="http://schemas.openxmlformats.org/presentationml/2006/main" xmlns:a="http://schemas.openxmlformats.org/drawingml/2006/main" xmlns:r="http://schemas.openxmlformats.org/officeDocument/2006/relationships">
  <p:cSld>
    <p:bg>
      <p:bgPr>
        <a:solidFill>
          <a:srgbClr val="D4EDF4"/>
        </a:solidFill>
      </p:bgPr>
    </p:bg>
    <p:spTree>
      <p:nvGrpSpPr>
        <p:cNvPr id="1" name=""/>
        <p:cNvGrpSpPr/>
        <p:nvPr/>
      </p:nvGrpSpPr>
      <p:grpSpPr>
        <a:xfrm>
          <a:off x="0" y="0"/>
          <a:ext cx="0" cy="0"/>
          <a:chOff x="0" y="0"/>
          <a:chExt cx="0" cy="0"/>
        </a:xfrm>
      </p:grpSpPr>
      <p:sp>
        <p:nvSpPr>
          <p:cNvPr name="Freeform 2" id="2"/>
          <p:cNvSpPr/>
          <p:nvPr/>
        </p:nvSpPr>
        <p:spPr>
          <a:xfrm flipH="false" flipV="false" rot="0">
            <a:off x="1267457" y="447111"/>
            <a:ext cx="15753086" cy="9392778"/>
          </a:xfrm>
          <a:custGeom>
            <a:avLst/>
            <a:gdLst/>
            <a:ahLst/>
            <a:cxnLst/>
            <a:rect r="r" b="b" t="t" l="l"/>
            <a:pathLst>
              <a:path h="9392778" w="15753086">
                <a:moveTo>
                  <a:pt x="0" y="0"/>
                </a:moveTo>
                <a:lnTo>
                  <a:pt x="15753086" y="0"/>
                </a:lnTo>
                <a:lnTo>
                  <a:pt x="15753086" y="9392778"/>
                </a:lnTo>
                <a:lnTo>
                  <a:pt x="0" y="9392778"/>
                </a:lnTo>
                <a:lnTo>
                  <a:pt x="0" y="0"/>
                </a:lnTo>
                <a:close/>
              </a:path>
            </a:pathLst>
          </a:custGeom>
          <a:blipFill>
            <a:blip r:embed="rId2"/>
            <a:stretch>
              <a:fillRect l="0" t="0" r="0" b="0"/>
            </a:stretch>
          </a:blipFill>
        </p:spPr>
      </p:sp>
    </p:spTree>
  </p:cSld>
  <p:clrMapOvr>
    <a:masterClrMapping/>
  </p:clrMapOvr>
</p:sld>
</file>

<file path=ppt/slides/slide67.xml><?xml version="1.0" encoding="utf-8"?>
<p:sld xmlns:p="http://schemas.openxmlformats.org/presentationml/2006/main" xmlns:a="http://schemas.openxmlformats.org/drawingml/2006/main" xmlns:r="http://schemas.openxmlformats.org/officeDocument/2006/relationships">
  <p:cSld>
    <p:bg>
      <p:bgPr>
        <a:solidFill>
          <a:srgbClr val="D4EDF4"/>
        </a:solidFill>
      </p:bgPr>
    </p:bg>
    <p:spTree>
      <p:nvGrpSpPr>
        <p:cNvPr id="1" name=""/>
        <p:cNvGrpSpPr/>
        <p:nvPr/>
      </p:nvGrpSpPr>
      <p:grpSpPr>
        <a:xfrm>
          <a:off x="0" y="0"/>
          <a:ext cx="0" cy="0"/>
          <a:chOff x="0" y="0"/>
          <a:chExt cx="0" cy="0"/>
        </a:xfrm>
      </p:grpSpPr>
      <p:sp>
        <p:nvSpPr>
          <p:cNvPr name="Freeform 2" id="2"/>
          <p:cNvSpPr/>
          <p:nvPr/>
        </p:nvSpPr>
        <p:spPr>
          <a:xfrm flipH="false" flipV="false" rot="0">
            <a:off x="2557999" y="561882"/>
            <a:ext cx="13779302" cy="9163236"/>
          </a:xfrm>
          <a:custGeom>
            <a:avLst/>
            <a:gdLst/>
            <a:ahLst/>
            <a:cxnLst/>
            <a:rect r="r" b="b" t="t" l="l"/>
            <a:pathLst>
              <a:path h="9163236" w="13779302">
                <a:moveTo>
                  <a:pt x="0" y="0"/>
                </a:moveTo>
                <a:lnTo>
                  <a:pt x="13779302" y="0"/>
                </a:lnTo>
                <a:lnTo>
                  <a:pt x="13779302" y="9163236"/>
                </a:lnTo>
                <a:lnTo>
                  <a:pt x="0" y="9163236"/>
                </a:lnTo>
                <a:lnTo>
                  <a:pt x="0" y="0"/>
                </a:lnTo>
                <a:close/>
              </a:path>
            </a:pathLst>
          </a:custGeom>
          <a:blipFill>
            <a:blip r:embed="rId2"/>
            <a:stretch>
              <a:fillRect l="0" t="0" r="0" b="0"/>
            </a:stretch>
          </a:blipFill>
        </p:spPr>
      </p:sp>
    </p:spTree>
  </p:cSld>
  <p:clrMapOvr>
    <a:masterClrMapping/>
  </p:clrMapOvr>
</p:sld>
</file>

<file path=ppt/slides/slide68.xml><?xml version="1.0" encoding="utf-8"?>
<p:sld xmlns:p="http://schemas.openxmlformats.org/presentationml/2006/main" xmlns:a="http://schemas.openxmlformats.org/drawingml/2006/main">
  <p:cSld>
    <p:bg>
      <p:bgPr>
        <a:solidFill>
          <a:srgbClr val="D4EDF4"/>
        </a:solidFill>
      </p:bgPr>
    </p:bg>
    <p:spTree>
      <p:nvGrpSpPr>
        <p:cNvPr id="1" name=""/>
        <p:cNvGrpSpPr/>
        <p:nvPr/>
      </p:nvGrpSpPr>
      <p:grpSpPr>
        <a:xfrm>
          <a:off x="0" y="0"/>
          <a:ext cx="0" cy="0"/>
          <a:chOff x="0" y="0"/>
          <a:chExt cx="0" cy="0"/>
        </a:xfrm>
      </p:grpSpPr>
      <p:sp>
        <p:nvSpPr>
          <p:cNvPr name="TextBox 2" id="2"/>
          <p:cNvSpPr txBox="true"/>
          <p:nvPr/>
        </p:nvSpPr>
        <p:spPr>
          <a:xfrm rot="0">
            <a:off x="754261" y="857250"/>
            <a:ext cx="7234684" cy="1566544"/>
          </a:xfrm>
          <a:prstGeom prst="rect">
            <a:avLst/>
          </a:prstGeom>
        </p:spPr>
        <p:txBody>
          <a:bodyPr anchor="t" rtlCol="false" tIns="0" lIns="0" bIns="0" rIns="0">
            <a:spAutoFit/>
          </a:bodyPr>
          <a:lstStyle/>
          <a:p>
            <a:pPr algn="ctr">
              <a:lnSpc>
                <a:spcPts val="12880"/>
              </a:lnSpc>
            </a:pPr>
            <a:r>
              <a:rPr lang="en-US" sz="9200" b="true">
                <a:solidFill>
                  <a:srgbClr val="000000"/>
                </a:solidFill>
                <a:latin typeface="Canva Sans Bold"/>
                <a:ea typeface="Canva Sans Bold"/>
                <a:cs typeface="Canva Sans Bold"/>
                <a:sym typeface="Canva Sans Bold"/>
              </a:rPr>
              <a:t>Question 17 :</a:t>
            </a:r>
          </a:p>
        </p:txBody>
      </p:sp>
      <p:sp>
        <p:nvSpPr>
          <p:cNvPr name="TextBox 3" id="3"/>
          <p:cNvSpPr txBox="true"/>
          <p:nvPr/>
        </p:nvSpPr>
        <p:spPr>
          <a:xfrm rot="0">
            <a:off x="1028700" y="5048250"/>
            <a:ext cx="16230600" cy="2734945"/>
          </a:xfrm>
          <a:prstGeom prst="rect">
            <a:avLst/>
          </a:prstGeom>
        </p:spPr>
        <p:txBody>
          <a:bodyPr anchor="t" rtlCol="false" tIns="0" lIns="0" bIns="0" rIns="0">
            <a:spAutoFit/>
          </a:bodyPr>
          <a:lstStyle/>
          <a:p>
            <a:pPr algn="l">
              <a:lnSpc>
                <a:spcPts val="7279"/>
              </a:lnSpc>
            </a:pPr>
            <a:r>
              <a:rPr lang="en-US" sz="5199" b="true">
                <a:solidFill>
                  <a:srgbClr val="000000"/>
                </a:solidFill>
                <a:latin typeface="Canva Sans Bold"/>
                <a:ea typeface="Canva Sans Bold"/>
                <a:cs typeface="Canva Sans Bold"/>
                <a:sym typeface="Canva Sans Bold"/>
              </a:rPr>
              <a:t>What is the average number of breaks of serve per match</a:t>
            </a:r>
            <a:r>
              <a:rPr lang="en-US" sz="5199" b="true">
                <a:solidFill>
                  <a:srgbClr val="000000"/>
                </a:solidFill>
                <a:latin typeface="Canva Sans Bold"/>
                <a:ea typeface="Canva Sans Bold"/>
                <a:cs typeface="Canva Sans Bold"/>
                <a:sym typeface="Canva Sans Bold"/>
              </a:rPr>
              <a:t>?</a:t>
            </a:r>
          </a:p>
          <a:p>
            <a:pPr algn="l">
              <a:lnSpc>
                <a:spcPts val="7279"/>
              </a:lnSpc>
            </a:pPr>
          </a:p>
        </p:txBody>
      </p:sp>
    </p:spTree>
  </p:cSld>
  <p:clrMapOvr>
    <a:masterClrMapping/>
  </p:clrMapOvr>
</p:sld>
</file>

<file path=ppt/slides/slide69.xml><?xml version="1.0" encoding="utf-8"?>
<p:sld xmlns:p="http://schemas.openxmlformats.org/presentationml/2006/main" xmlns:a="http://schemas.openxmlformats.org/drawingml/2006/main">
  <p:cSld>
    <p:bg>
      <p:bgPr>
        <a:solidFill>
          <a:srgbClr val="D4EDF4"/>
        </a:solidFill>
      </p:bgPr>
    </p:bg>
    <p:spTree>
      <p:nvGrpSpPr>
        <p:cNvPr id="1" name=""/>
        <p:cNvGrpSpPr/>
        <p:nvPr/>
      </p:nvGrpSpPr>
      <p:grpSpPr>
        <a:xfrm>
          <a:off x="0" y="0"/>
          <a:ext cx="0" cy="0"/>
          <a:chOff x="0" y="0"/>
          <a:chExt cx="0" cy="0"/>
        </a:xfrm>
      </p:grpSpPr>
      <p:sp>
        <p:nvSpPr>
          <p:cNvPr name="TextBox 2" id="2"/>
          <p:cNvSpPr txBox="true"/>
          <p:nvPr/>
        </p:nvSpPr>
        <p:spPr>
          <a:xfrm rot="0">
            <a:off x="2287369" y="4652327"/>
            <a:ext cx="13713262" cy="887095"/>
          </a:xfrm>
          <a:prstGeom prst="rect">
            <a:avLst/>
          </a:prstGeom>
        </p:spPr>
        <p:txBody>
          <a:bodyPr anchor="t" rtlCol="false" tIns="0" lIns="0" bIns="0" rIns="0">
            <a:spAutoFit/>
          </a:bodyPr>
          <a:lstStyle/>
          <a:p>
            <a:pPr algn="ctr">
              <a:lnSpc>
                <a:spcPts val="7279"/>
              </a:lnSpc>
              <a:spcBef>
                <a:spcPct val="0"/>
              </a:spcBef>
            </a:pPr>
            <a:r>
              <a:rPr lang="en-US" b="true" sz="5199">
                <a:solidFill>
                  <a:srgbClr val="000000"/>
                </a:solidFill>
                <a:latin typeface="Canva Sans Bold"/>
                <a:ea typeface="Canva Sans Bold"/>
                <a:cs typeface="Canva Sans Bold"/>
                <a:sym typeface="Canva Sans Bold"/>
              </a:rPr>
              <a:t>Average N</a:t>
            </a:r>
            <a:r>
              <a:rPr lang="en-US" b="true" sz="5199">
                <a:solidFill>
                  <a:srgbClr val="000000"/>
                </a:solidFill>
                <a:latin typeface="Canva Sans Bold"/>
                <a:ea typeface="Canva Sans Bold"/>
                <a:cs typeface="Canva Sans Bold"/>
                <a:sym typeface="Canva Sans Bold"/>
              </a:rPr>
              <a:t>umber of Breaks per Match: 6.93</a:t>
            </a:r>
          </a:p>
        </p:txBody>
      </p:sp>
    </p:spTree>
  </p:cSld>
  <p:clrMapOvr>
    <a:masterClrMapping/>
  </p:clrMapOvr>
</p:sld>
</file>

<file path=ppt/slides/slide70.xml><?xml version="1.0" encoding="utf-8"?>
<p:sld xmlns:p="http://schemas.openxmlformats.org/presentationml/2006/main" xmlns:a="http://schemas.openxmlformats.org/drawingml/2006/main" xmlns:r="http://schemas.openxmlformats.org/officeDocument/2006/relationships">
  <p:cSld>
    <p:bg>
      <p:bgPr>
        <a:solidFill>
          <a:srgbClr val="D4EDF4"/>
        </a:solidFill>
      </p:bgPr>
    </p:bg>
    <p:spTree>
      <p:nvGrpSpPr>
        <p:cNvPr id="1" name=""/>
        <p:cNvGrpSpPr/>
        <p:nvPr/>
      </p:nvGrpSpPr>
      <p:grpSpPr>
        <a:xfrm>
          <a:off x="0" y="0"/>
          <a:ext cx="0" cy="0"/>
          <a:chOff x="0" y="0"/>
          <a:chExt cx="0" cy="0"/>
        </a:xfrm>
      </p:grpSpPr>
      <p:sp>
        <p:nvSpPr>
          <p:cNvPr name="Freeform 2" id="2"/>
          <p:cNvSpPr/>
          <p:nvPr/>
        </p:nvSpPr>
        <p:spPr>
          <a:xfrm flipH="false" flipV="false" rot="0">
            <a:off x="581008" y="904819"/>
            <a:ext cx="17125984" cy="8477362"/>
          </a:xfrm>
          <a:custGeom>
            <a:avLst/>
            <a:gdLst/>
            <a:ahLst/>
            <a:cxnLst/>
            <a:rect r="r" b="b" t="t" l="l"/>
            <a:pathLst>
              <a:path h="8477362" w="17125984">
                <a:moveTo>
                  <a:pt x="0" y="0"/>
                </a:moveTo>
                <a:lnTo>
                  <a:pt x="17125984" y="0"/>
                </a:lnTo>
                <a:lnTo>
                  <a:pt x="17125984" y="8477362"/>
                </a:lnTo>
                <a:lnTo>
                  <a:pt x="0" y="8477362"/>
                </a:lnTo>
                <a:lnTo>
                  <a:pt x="0" y="0"/>
                </a:lnTo>
                <a:close/>
              </a:path>
            </a:pathLst>
          </a:custGeom>
          <a:blipFill>
            <a:blip r:embed="rId2"/>
            <a:stretch>
              <a:fillRect l="0" t="0" r="0" b="0"/>
            </a:stretch>
          </a:blipFill>
        </p:spPr>
      </p:sp>
    </p:spTree>
  </p:cSld>
  <p:clrMapOvr>
    <a:masterClrMapping/>
  </p:clrMapOvr>
</p:sld>
</file>

<file path=ppt/slides/slide71.xml><?xml version="1.0" encoding="utf-8"?>
<p:sld xmlns:p="http://schemas.openxmlformats.org/presentationml/2006/main" xmlns:a="http://schemas.openxmlformats.org/drawingml/2006/main">
  <p:cSld>
    <p:bg>
      <p:bgPr>
        <a:solidFill>
          <a:srgbClr val="D4EDF4"/>
        </a:solidFill>
      </p:bgPr>
    </p:bg>
    <p:spTree>
      <p:nvGrpSpPr>
        <p:cNvPr id="1" name=""/>
        <p:cNvGrpSpPr/>
        <p:nvPr/>
      </p:nvGrpSpPr>
      <p:grpSpPr>
        <a:xfrm>
          <a:off x="0" y="0"/>
          <a:ext cx="0" cy="0"/>
          <a:chOff x="0" y="0"/>
          <a:chExt cx="0" cy="0"/>
        </a:xfrm>
      </p:grpSpPr>
      <p:sp>
        <p:nvSpPr>
          <p:cNvPr name="TextBox 2" id="2"/>
          <p:cNvSpPr txBox="true"/>
          <p:nvPr/>
        </p:nvSpPr>
        <p:spPr>
          <a:xfrm rot="0">
            <a:off x="1228903" y="4652327"/>
            <a:ext cx="15830193" cy="3658870"/>
          </a:xfrm>
          <a:prstGeom prst="rect">
            <a:avLst/>
          </a:prstGeom>
        </p:spPr>
        <p:txBody>
          <a:bodyPr anchor="t" rtlCol="false" tIns="0" lIns="0" bIns="0" rIns="0">
            <a:spAutoFit/>
          </a:bodyPr>
          <a:lstStyle/>
          <a:p>
            <a:pPr algn="ctr">
              <a:lnSpc>
                <a:spcPts val="7279"/>
              </a:lnSpc>
              <a:spcBef>
                <a:spcPct val="0"/>
              </a:spcBef>
            </a:pPr>
            <a:r>
              <a:rPr lang="en-US" b="true" sz="5199">
                <a:solidFill>
                  <a:srgbClr val="000000"/>
                </a:solidFill>
                <a:latin typeface="Canva Sans Bold"/>
                <a:ea typeface="Canva Sans Bold"/>
                <a:cs typeface="Canva Sans Bold"/>
                <a:sym typeface="Canva Sans Bold"/>
              </a:rPr>
              <a:t>Average N</a:t>
            </a:r>
            <a:r>
              <a:rPr lang="en-US" b="true" sz="5199">
                <a:solidFill>
                  <a:srgbClr val="000000"/>
                </a:solidFill>
                <a:latin typeface="Canva Sans Bold"/>
                <a:ea typeface="Canva Sans Bold"/>
                <a:cs typeface="Canva Sans Bold"/>
                <a:sym typeface="Canva Sans Bold"/>
              </a:rPr>
              <a:t>umber of Breaks per Match by Gender: </a:t>
            </a:r>
          </a:p>
          <a:p>
            <a:pPr algn="ctr">
              <a:lnSpc>
                <a:spcPts val="7279"/>
              </a:lnSpc>
              <a:spcBef>
                <a:spcPct val="0"/>
              </a:spcBef>
            </a:pPr>
            <a:r>
              <a:rPr lang="en-US" b="true" sz="5199">
                <a:solidFill>
                  <a:srgbClr val="000000"/>
                </a:solidFill>
                <a:latin typeface="Canva Sans Bold"/>
                <a:ea typeface="Canva Sans Bold"/>
                <a:cs typeface="Canva Sans Bold"/>
                <a:sym typeface="Canva Sans Bold"/>
              </a:rPr>
              <a:t> gender num_breaks </a:t>
            </a:r>
          </a:p>
          <a:p>
            <a:pPr algn="ctr">
              <a:lnSpc>
                <a:spcPts val="7279"/>
              </a:lnSpc>
              <a:spcBef>
                <a:spcPct val="0"/>
              </a:spcBef>
            </a:pPr>
            <a:r>
              <a:rPr lang="en-US" b="true" sz="5199">
                <a:solidFill>
                  <a:srgbClr val="000000"/>
                </a:solidFill>
                <a:latin typeface="Canva Sans Bold"/>
                <a:ea typeface="Canva Sans Bold"/>
                <a:cs typeface="Canva Sans Bold"/>
                <a:sym typeface="Canva Sans Bold"/>
              </a:rPr>
              <a:t>F       8.083681 </a:t>
            </a:r>
          </a:p>
          <a:p>
            <a:pPr algn="ctr">
              <a:lnSpc>
                <a:spcPts val="7279"/>
              </a:lnSpc>
              <a:spcBef>
                <a:spcPct val="0"/>
              </a:spcBef>
            </a:pPr>
            <a:r>
              <a:rPr lang="en-US" b="true" sz="5199">
                <a:solidFill>
                  <a:srgbClr val="000000"/>
                </a:solidFill>
                <a:latin typeface="Canva Sans Bold"/>
                <a:ea typeface="Canva Sans Bold"/>
                <a:cs typeface="Canva Sans Bold"/>
                <a:sym typeface="Canva Sans Bold"/>
              </a:rPr>
              <a:t>M     6.033898</a:t>
            </a:r>
          </a:p>
        </p:txBody>
      </p:sp>
    </p:spTree>
  </p:cSld>
  <p:clrMapOvr>
    <a:masterClrMapping/>
  </p:clrMapOvr>
</p:sld>
</file>

<file path=ppt/slides/slide72.xml><?xml version="1.0" encoding="utf-8"?>
<p:sld xmlns:p="http://schemas.openxmlformats.org/presentationml/2006/main" xmlns:a="http://schemas.openxmlformats.org/drawingml/2006/main" xmlns:r="http://schemas.openxmlformats.org/officeDocument/2006/relationships">
  <p:cSld>
    <p:bg>
      <p:bgPr>
        <a:solidFill>
          <a:srgbClr val="D4EDF4"/>
        </a:solidFill>
      </p:bgPr>
    </p:bg>
    <p:spTree>
      <p:nvGrpSpPr>
        <p:cNvPr id="1" name=""/>
        <p:cNvGrpSpPr/>
        <p:nvPr/>
      </p:nvGrpSpPr>
      <p:grpSpPr>
        <a:xfrm>
          <a:off x="0" y="0"/>
          <a:ext cx="0" cy="0"/>
          <a:chOff x="0" y="0"/>
          <a:chExt cx="0" cy="0"/>
        </a:xfrm>
      </p:grpSpPr>
      <p:sp>
        <p:nvSpPr>
          <p:cNvPr name="Freeform 2" id="2"/>
          <p:cNvSpPr/>
          <p:nvPr/>
        </p:nvSpPr>
        <p:spPr>
          <a:xfrm flipH="false" flipV="false" rot="0">
            <a:off x="1378226" y="326754"/>
            <a:ext cx="15531548" cy="9633492"/>
          </a:xfrm>
          <a:custGeom>
            <a:avLst/>
            <a:gdLst/>
            <a:ahLst/>
            <a:cxnLst/>
            <a:rect r="r" b="b" t="t" l="l"/>
            <a:pathLst>
              <a:path h="9633492" w="15531548">
                <a:moveTo>
                  <a:pt x="0" y="0"/>
                </a:moveTo>
                <a:lnTo>
                  <a:pt x="15531548" y="0"/>
                </a:lnTo>
                <a:lnTo>
                  <a:pt x="15531548" y="9633492"/>
                </a:lnTo>
                <a:lnTo>
                  <a:pt x="0" y="9633492"/>
                </a:lnTo>
                <a:lnTo>
                  <a:pt x="0" y="0"/>
                </a:lnTo>
                <a:close/>
              </a:path>
            </a:pathLst>
          </a:custGeom>
          <a:blipFill>
            <a:blip r:embed="rId2"/>
            <a:stretch>
              <a:fillRect l="0" t="0" r="0" b="0"/>
            </a:stretch>
          </a:blipFill>
        </p:spPr>
      </p:sp>
    </p:spTree>
  </p:cSld>
  <p:clrMapOvr>
    <a:masterClrMapping/>
  </p:clrMapOvr>
</p:sld>
</file>

<file path=ppt/slides/slide73.xml><?xml version="1.0" encoding="utf-8"?>
<p:sld xmlns:p="http://schemas.openxmlformats.org/presentationml/2006/main" xmlns:a="http://schemas.openxmlformats.org/drawingml/2006/main" xmlns:r="http://schemas.openxmlformats.org/officeDocument/2006/relationships">
  <p:cSld>
    <p:bg>
      <p:bgPr>
        <a:solidFill>
          <a:srgbClr val="D4EDF4"/>
        </a:solidFill>
      </p:bgPr>
    </p:bg>
    <p:spTree>
      <p:nvGrpSpPr>
        <p:cNvPr id="1" name=""/>
        <p:cNvGrpSpPr/>
        <p:nvPr/>
      </p:nvGrpSpPr>
      <p:grpSpPr>
        <a:xfrm>
          <a:off x="0" y="0"/>
          <a:ext cx="0" cy="0"/>
          <a:chOff x="0" y="0"/>
          <a:chExt cx="0" cy="0"/>
        </a:xfrm>
      </p:grpSpPr>
      <p:sp>
        <p:nvSpPr>
          <p:cNvPr name="TextBox 2" id="2"/>
          <p:cNvSpPr txBox="true"/>
          <p:nvPr/>
        </p:nvSpPr>
        <p:spPr>
          <a:xfrm rot="0">
            <a:off x="5222677" y="2899845"/>
            <a:ext cx="7842647" cy="887095"/>
          </a:xfrm>
          <a:prstGeom prst="rect">
            <a:avLst/>
          </a:prstGeom>
        </p:spPr>
        <p:txBody>
          <a:bodyPr anchor="t" rtlCol="false" tIns="0" lIns="0" bIns="0" rIns="0">
            <a:spAutoFit/>
          </a:bodyPr>
          <a:lstStyle/>
          <a:p>
            <a:pPr algn="ctr">
              <a:lnSpc>
                <a:spcPts val="7279"/>
              </a:lnSpc>
              <a:spcBef>
                <a:spcPct val="0"/>
              </a:spcBef>
            </a:pPr>
            <a:r>
              <a:rPr lang="en-US" b="true" sz="5199">
                <a:solidFill>
                  <a:srgbClr val="000000"/>
                </a:solidFill>
                <a:latin typeface="Canva Sans Bold"/>
                <a:ea typeface="Canva Sans Bold"/>
                <a:cs typeface="Canva Sans Bold"/>
                <a:sym typeface="Canva Sans Bold"/>
              </a:rPr>
              <a:t>Thank you for your time.</a:t>
            </a:r>
          </a:p>
        </p:txBody>
      </p:sp>
      <p:sp>
        <p:nvSpPr>
          <p:cNvPr name="TextBox 3" id="3"/>
          <p:cNvSpPr txBox="true"/>
          <p:nvPr/>
        </p:nvSpPr>
        <p:spPr>
          <a:xfrm rot="0">
            <a:off x="1789569" y="6508858"/>
            <a:ext cx="14708863" cy="1348739"/>
          </a:xfrm>
          <a:prstGeom prst="rect">
            <a:avLst/>
          </a:prstGeom>
        </p:spPr>
        <p:txBody>
          <a:bodyPr anchor="t" rtlCol="false" tIns="0" lIns="0" bIns="0" rIns="0">
            <a:spAutoFit/>
          </a:bodyPr>
          <a:lstStyle/>
          <a:p>
            <a:pPr algn="ctr">
              <a:lnSpc>
                <a:spcPts val="5460"/>
              </a:lnSpc>
            </a:pPr>
            <a:r>
              <a:rPr lang="en-US" sz="3900" b="true">
                <a:solidFill>
                  <a:srgbClr val="000000"/>
                </a:solidFill>
                <a:latin typeface="Canva Sans Bold"/>
                <a:ea typeface="Canva Sans Bold"/>
                <a:cs typeface="Canva Sans Bold"/>
                <a:sym typeface="Canva Sans Bold"/>
              </a:rPr>
              <a:t>link to the code:</a:t>
            </a:r>
          </a:p>
          <a:p>
            <a:pPr algn="ctr">
              <a:lnSpc>
                <a:spcPts val="5460"/>
              </a:lnSpc>
              <a:spcBef>
                <a:spcPct val="0"/>
              </a:spcBef>
            </a:pPr>
            <a:r>
              <a:rPr lang="en-US" b="true" sz="3900" u="sng">
                <a:solidFill>
                  <a:srgbClr val="000000"/>
                </a:solidFill>
                <a:latin typeface="Canva Sans Bold"/>
                <a:ea typeface="Canva Sans Bold"/>
                <a:cs typeface="Canva Sans Bold"/>
                <a:sym typeface="Canva Sans Bold"/>
                <a:hlinkClick r:id="rId2" tooltip="https://github.com/marzi-dezfoulianrad/data_analysis_tennis.git"/>
              </a:rPr>
              <a:t>https://github.com/marzi-dezfoulianrad/data_analysis_tennis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DAGtsaCxPow</dc:identifier>
  <dcterms:modified xsi:type="dcterms:W3CDTF">2011-08-01T06:04:30Z</dcterms:modified>
  <cp:revision>1</cp:revision>
  <dc:title>Daneshkar Presentation for Data Analysis of Tennis Games</dc:title>
</cp:coreProperties>
</file>